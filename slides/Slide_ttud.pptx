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8" d="100"/>
          <a:sy n="88" d="100"/>
        </p:scale>
        <p:origin x="46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204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Kính chào thầy và các bạn. Nhóm em trình bày đề tài mô phỏng Rubik 3D và giải tự động bằng thuật toán Kociemba, kết hợp trực quan hóa với thuật toán tìm kiếm.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trình bày gồm năm phần, đi từ lý do chọn đề tài đến mô hình bài toán, giải pháp, đánh giá và kết luận. Trọng tâm là cách kết nối mô hình 3D với bộ giải Kociemba.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Rubik có số trạng thái cực lớn nên không thể thử mọi khả năng một cách trực tiếp. Đề tài tạo môi trường trực quan để quan sát sự tương tác giữa mô hình 3D và thuật toán giải.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đặt hai câu hỏi: bộ giải có tìm được lời giải ngắn trong thời gian phù hợp không, và mô hình 3D có thể phản ánh chính xác trạng thái logic không. Giả thuyết là bộ giải chuyên biệt kết hợp ánh xạ trạng thái rõ ràng sẽ đáp ứng được yêu cầu demo.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toán được tách thành ba bước độc lập để dễ kiểm thử. Ví dụ, người dùng xáo trộn khoảng 20 bước; hệ thống chuyển cấu hình thành chuỗi trạng thái, gọi bộ giải rồi phát lại các bước.</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mặt có chín ô, tổng cộng 54 vị trí màu. Bộ giải nhận một biểu diễn chuẩn hóa và trả về chuỗi phép quay sao cho áp dụng lên trạng thái đầu sẽ thu được trạng thái đích.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Thách thức không chỉ nằm ở tìm lời giải. Nếu bộ giải đúng nhưng phần giải mã sai, chuỗi phép quay cũng sẽ sai; tương tự, animation phải kết thúc đúng tư thế logic.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Brute Force không khả thi vì số trạng thái quá lớn. Layer-by-Layer dễ học nhưng thường dài hơn; Kociemba có cấu trúc tìm kiếm phù hợp cho lời giải ngắn, còn học tăng cường cần dữ liệu và tài nguyên huấn luyện.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Kiến trúc gồm giao diện VPython, bộ giải mã trạng thái và lõi Kociemba. Dữ liệu đi từ thao tác người dùng, qua chuẩn hóa trạng thái, rồi lời giải được chuyển thành các lệnh quay để animation thực thi.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Kociemba chia bài toán thành hai pha để giảm độ khó tìm kiếm. Pha đầu đưa Rubik về một nhóm con có cấu trúc thuận lợi; pha hai hoàn tất việc giải, dùng IDA* và các bảng tra cứu để tìm lời giải hiệu quả.</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Lớp Rubic_Cube quản lý vị trí, thao tác và hoạt ảnh. Hàm decode_position sử dụng khoảng cách vị trí và nhận diện màu để tạo chuỗi 54 ký tự; các thông số animation được chọn để chuyển động đủ mượt khi trình diễn.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Với Rubik 3×3 cố định, số ô luôn là 54 nên thời gian giải mã là hằng số theo kích thước bài toán này. Chi phí hiển thị tăng theo số bước và số khung hình; tính đúng đắn phụ thuộc đồng thời vào giải mã, bộ giải và phép quay.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Thử nghiệm được mô tả trên máy i5-8250U, RAM 8 GB, Python 3.9 với VPython và Kociemba. Kết quả tham khảo cho thấy thời gian tính lời giải ngắn hơn đáng kể so với thời gian phát animation; các con số cần được hiểu trong đúng cấu hình và dữ liệu thử nghiệm.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Ở phần demo, lần lượt quan sát trạng thái ban đầu, trạng thái sau xáo trộn, chuỗi lời giải được đề xuất và trạng thái cuối. Các hình trong slide này là hình minh họa dựng lại theo mô tả; cần thay bằng Hình 2–5 nguyên bản trong báo cáo khi có file nguồn.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Tóm lại, đề tài đã kết hợp mô phỏng 3D, giải mã trạng thái và thuật toán Kociemba thành quy trình giải tự động. Hướng tiếp theo là cải thiện ánh xạ màu, tối ưu animation và bổ sung nhận diện qua camera; nhóm em xin cảm ơn và sẵn sàng trả lời câu hỏi.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41"/>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94360"/>
            <a:ext cx="7589520" cy="411480"/>
          </a:xfrm>
          <a:prstGeom prst="rect">
            <a:avLst/>
          </a:prstGeom>
          <a:noFill/>
        </p:spPr>
        <p:txBody>
          <a:bodyPr wrap="none" lIns="54864" tIns="54864" rIns="54864" bIns="54864" anchor="ctr">
            <a:spAutoFit/>
          </a:bodyPr>
          <a:lstStyle/>
          <a:p>
            <a:pPr>
              <a:spcAft>
                <a:spcPts val="400"/>
              </a:spcAft>
              <a:defRPr sz="1600" b="1">
                <a:solidFill>
                  <a:srgbClr val="C8D7E8"/>
                </a:solidFill>
                <a:latin typeface="Aptos"/>
              </a:defRPr>
            </a:pPr>
            <a:r>
              <a:t>ĐẠI HỌC PHENIKAA  |  CSE703052  |  LỚP N01</a:t>
            </a:r>
          </a:p>
        </p:txBody>
      </p:sp>
      <p:sp>
        <p:nvSpPr>
          <p:cNvPr id="4" name="TextBox 3"/>
          <p:cNvSpPr txBox="1"/>
          <p:nvPr/>
        </p:nvSpPr>
        <p:spPr>
          <a:xfrm>
            <a:off x="777240" y="1325880"/>
            <a:ext cx="7168501" cy="1552220"/>
          </a:xfrm>
          <a:prstGeom prst="rect">
            <a:avLst/>
          </a:prstGeom>
          <a:noFill/>
        </p:spPr>
        <p:txBody>
          <a:bodyPr wrap="none" lIns="54864" tIns="54864" rIns="54864" bIns="54864" anchor="t">
            <a:spAutoFit/>
          </a:bodyPr>
          <a:lstStyle/>
          <a:p>
            <a:pPr>
              <a:spcAft>
                <a:spcPts val="400"/>
              </a:spcAft>
              <a:defRPr sz="2900" b="1">
                <a:solidFill>
                  <a:srgbClr val="FFFFFF"/>
                </a:solidFill>
                <a:latin typeface="Aptos"/>
              </a:defRPr>
            </a:pPr>
            <a:r>
              <a:rPr dirty="0"/>
              <a:t>MÔ PHỎNG RUBIK 3D</a:t>
            </a:r>
          </a:p>
          <a:p>
            <a:pPr>
              <a:spcAft>
                <a:spcPts val="400"/>
              </a:spcAft>
              <a:defRPr sz="2900" b="1">
                <a:solidFill>
                  <a:srgbClr val="FFFFFF"/>
                </a:solidFill>
                <a:latin typeface="Aptos"/>
              </a:defRPr>
            </a:pPr>
            <a:r>
              <a:rPr dirty="0"/>
              <a:t>VÀ GIẢI TỰ ĐỘNG BẰNG THUẬT TOÁN </a:t>
            </a:r>
            <a:endParaRPr lang="en-US" dirty="0" smtClean="0"/>
          </a:p>
          <a:p>
            <a:pPr>
              <a:spcAft>
                <a:spcPts val="400"/>
              </a:spcAft>
              <a:defRPr sz="2900" b="1">
                <a:solidFill>
                  <a:srgbClr val="FFFFFF"/>
                </a:solidFill>
                <a:latin typeface="Aptos"/>
              </a:defRPr>
            </a:pPr>
            <a:r>
              <a:rPr dirty="0" smtClean="0"/>
              <a:t>KOCIEMBA</a:t>
            </a:r>
            <a:endParaRPr dirty="0"/>
          </a:p>
        </p:txBody>
      </p:sp>
      <p:sp>
        <p:nvSpPr>
          <p:cNvPr id="5" name="TextBox 4"/>
          <p:cNvSpPr txBox="1"/>
          <p:nvPr/>
        </p:nvSpPr>
        <p:spPr>
          <a:xfrm>
            <a:off x="822960" y="3334012"/>
            <a:ext cx="3738588" cy="418576"/>
          </a:xfrm>
          <a:prstGeom prst="rect">
            <a:avLst/>
          </a:prstGeom>
          <a:noFill/>
        </p:spPr>
        <p:txBody>
          <a:bodyPr wrap="none" lIns="54864" tIns="54864" rIns="54864" bIns="54864" anchor="ctr">
            <a:spAutoFit/>
          </a:bodyPr>
          <a:lstStyle/>
          <a:p>
            <a:pPr>
              <a:spcAft>
                <a:spcPts val="400"/>
              </a:spcAft>
              <a:defRPr sz="1800" b="0">
                <a:solidFill>
                  <a:srgbClr val="DAE2ED"/>
                </a:solidFill>
                <a:latin typeface="Aptos"/>
              </a:defRPr>
            </a:pPr>
            <a:r>
              <a:rPr sz="2000" dirty="0" err="1"/>
              <a:t>Học</a:t>
            </a:r>
            <a:r>
              <a:rPr sz="2000" dirty="0"/>
              <a:t> </a:t>
            </a:r>
            <a:r>
              <a:rPr sz="2000" dirty="0" err="1"/>
              <a:t>phần</a:t>
            </a:r>
            <a:r>
              <a:rPr sz="2000" dirty="0"/>
              <a:t>: </a:t>
            </a:r>
            <a:r>
              <a:rPr sz="2000" dirty="0" err="1"/>
              <a:t>Thuật</a:t>
            </a:r>
            <a:r>
              <a:rPr sz="2000" dirty="0"/>
              <a:t> </a:t>
            </a:r>
            <a:r>
              <a:rPr sz="2000" dirty="0" err="1"/>
              <a:t>toán</a:t>
            </a:r>
            <a:r>
              <a:rPr sz="2000" dirty="0"/>
              <a:t> </a:t>
            </a:r>
            <a:r>
              <a:rPr sz="2000" dirty="0" err="1"/>
              <a:t>ứng</a:t>
            </a:r>
            <a:r>
              <a:rPr sz="2000" dirty="0"/>
              <a:t> </a:t>
            </a:r>
            <a:r>
              <a:rPr sz="2000" dirty="0" err="1"/>
              <a:t>dụng</a:t>
            </a:r>
            <a:endParaRPr sz="2000" dirty="0"/>
          </a:p>
        </p:txBody>
      </p:sp>
      <p:sp>
        <p:nvSpPr>
          <p:cNvPr id="6" name="TextBox 5"/>
          <p:cNvSpPr txBox="1"/>
          <p:nvPr/>
        </p:nvSpPr>
        <p:spPr>
          <a:xfrm>
            <a:off x="777240" y="4958600"/>
            <a:ext cx="2352054" cy="1003352"/>
          </a:xfrm>
          <a:prstGeom prst="rect">
            <a:avLst/>
          </a:prstGeom>
          <a:noFill/>
        </p:spPr>
        <p:txBody>
          <a:bodyPr wrap="none" lIns="54864" tIns="54864" rIns="54864" bIns="54864" anchor="ctr">
            <a:spAutoFit/>
          </a:bodyPr>
          <a:lstStyle/>
          <a:p>
            <a:pPr>
              <a:spcAft>
                <a:spcPts val="400"/>
              </a:spcAft>
              <a:defRPr sz="1600" b="0">
                <a:solidFill>
                  <a:srgbClr val="FFFFFF"/>
                </a:solidFill>
                <a:latin typeface="Aptos"/>
              </a:defRPr>
            </a:pPr>
            <a:r>
              <a:rPr lang="en-US" sz="1200" dirty="0" err="1" smtClean="0"/>
              <a:t>Thành</a:t>
            </a:r>
            <a:r>
              <a:rPr lang="en-US" sz="1200" dirty="0" smtClean="0"/>
              <a:t> </a:t>
            </a:r>
            <a:r>
              <a:rPr lang="en-US" sz="1200" dirty="0" err="1" smtClean="0"/>
              <a:t>viên</a:t>
            </a:r>
            <a:r>
              <a:rPr lang="en-US" sz="1200" dirty="0" smtClean="0"/>
              <a:t>:</a:t>
            </a:r>
            <a:endParaRPr sz="1200" dirty="0"/>
          </a:p>
          <a:p>
            <a:pPr>
              <a:spcAft>
                <a:spcPts val="400"/>
              </a:spcAft>
              <a:defRPr sz="1600" b="0">
                <a:solidFill>
                  <a:srgbClr val="FFFFFF"/>
                </a:solidFill>
                <a:latin typeface="Aptos"/>
              </a:defRPr>
            </a:pPr>
            <a:r>
              <a:rPr lang="vi-VN" sz="1200" dirty="0"/>
              <a:t>Nguyễn Thành </a:t>
            </a:r>
            <a:r>
              <a:rPr lang="vi-VN" sz="1200" dirty="0" smtClean="0"/>
              <a:t>Đạt</a:t>
            </a:r>
            <a:r>
              <a:rPr lang="en-US" sz="1200" dirty="0" smtClean="0"/>
              <a:t>_</a:t>
            </a:r>
            <a:r>
              <a:rPr lang="vi-VN" sz="1200" dirty="0" smtClean="0"/>
              <a:t>23017259 </a:t>
            </a:r>
            <a:endParaRPr lang="en-US" sz="1200" dirty="0" smtClean="0"/>
          </a:p>
          <a:p>
            <a:pPr>
              <a:spcAft>
                <a:spcPts val="400"/>
              </a:spcAft>
              <a:defRPr sz="1600" b="0">
                <a:solidFill>
                  <a:srgbClr val="FFFFFF"/>
                </a:solidFill>
                <a:latin typeface="Aptos"/>
              </a:defRPr>
            </a:pPr>
            <a:r>
              <a:rPr lang="vi-VN" sz="1200" dirty="0"/>
              <a:t>Đinh Long Vũ_23017241 </a:t>
            </a:r>
          </a:p>
          <a:p>
            <a:pPr>
              <a:spcAft>
                <a:spcPts val="400"/>
              </a:spcAft>
              <a:defRPr sz="1600" b="0">
                <a:solidFill>
                  <a:srgbClr val="FFFFFF"/>
                </a:solidFill>
                <a:latin typeface="Aptos"/>
              </a:defRPr>
            </a:pPr>
            <a:r>
              <a:rPr lang="vi-VN" sz="1200" dirty="0" smtClean="0"/>
              <a:t>Nguyễn </a:t>
            </a:r>
            <a:r>
              <a:rPr lang="vi-VN" sz="1200" dirty="0"/>
              <a:t>Tùng </a:t>
            </a:r>
            <a:r>
              <a:rPr lang="vi-VN" sz="1200" dirty="0" smtClean="0"/>
              <a:t>Dương</a:t>
            </a:r>
            <a:r>
              <a:rPr lang="en-US" sz="1200" dirty="0" smtClean="0"/>
              <a:t>_</a:t>
            </a:r>
            <a:r>
              <a:rPr lang="vi-VN" sz="1200" dirty="0" smtClean="0"/>
              <a:t>23013811 </a:t>
            </a:r>
            <a:endParaRPr lang="en-US" sz="1200" dirty="0" smtClean="0"/>
          </a:p>
        </p:txBody>
      </p:sp>
      <p:sp>
        <p:nvSpPr>
          <p:cNvPr id="7" name="TextBox 6"/>
          <p:cNvSpPr txBox="1"/>
          <p:nvPr/>
        </p:nvSpPr>
        <p:spPr>
          <a:xfrm>
            <a:off x="822960" y="6126480"/>
            <a:ext cx="3657600" cy="320040"/>
          </a:xfrm>
          <a:prstGeom prst="rect">
            <a:avLst/>
          </a:prstGeom>
          <a:noFill/>
        </p:spPr>
        <p:txBody>
          <a:bodyPr wrap="none" lIns="54864" tIns="54864" rIns="54864" bIns="54864" anchor="ctr">
            <a:spAutoFit/>
          </a:bodyPr>
          <a:lstStyle/>
          <a:p>
            <a:pPr>
              <a:spcAft>
                <a:spcPts val="400"/>
              </a:spcAft>
              <a:defRPr sz="1400" b="1">
                <a:solidFill>
                  <a:srgbClr val="F2802D"/>
                </a:solidFill>
                <a:latin typeface="Aptos"/>
              </a:defRPr>
            </a:pPr>
            <a:r>
              <a:t>HÀ NỘI • 2026</a:t>
            </a:r>
          </a:p>
        </p:txBody>
      </p:sp>
      <p:sp>
        <p:nvSpPr>
          <p:cNvPr id="8" name="Rectangle 7"/>
          <p:cNvSpPr/>
          <p:nvPr/>
        </p:nvSpPr>
        <p:spPr>
          <a:xfrm>
            <a:off x="9094622" y="1600200"/>
            <a:ext cx="143560" cy="143560"/>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61043" y="1600200"/>
            <a:ext cx="143560" cy="143560"/>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427464" y="1600200"/>
            <a:ext cx="143560" cy="143560"/>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094622" y="1766620"/>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261043" y="1766620"/>
            <a:ext cx="143560" cy="143560"/>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427464" y="1766620"/>
            <a:ext cx="143560" cy="143560"/>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094622" y="1933041"/>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261043" y="1933041"/>
            <a:ext cx="143560" cy="143560"/>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427464" y="1933041"/>
            <a:ext cx="143560" cy="143560"/>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595360" y="2099462"/>
            <a:ext cx="143560" cy="143560"/>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761780" y="2099462"/>
            <a:ext cx="143560" cy="143560"/>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928201" y="2099462"/>
            <a:ext cx="143560" cy="143560"/>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595360" y="2265883"/>
            <a:ext cx="143560" cy="143560"/>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761780" y="2265883"/>
            <a:ext cx="143560" cy="143560"/>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28201" y="2265883"/>
            <a:ext cx="143560" cy="143560"/>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595360" y="2432304"/>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761780" y="2432304"/>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28201" y="2432304"/>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94622" y="2099462"/>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261043" y="2099462"/>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427464" y="2099462"/>
            <a:ext cx="143560" cy="143560"/>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094622" y="2265883"/>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61043" y="2265883"/>
            <a:ext cx="143560" cy="143560"/>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427464" y="2265883"/>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94622" y="2432304"/>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261043" y="2432304"/>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427464" y="2432304"/>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593884" y="2099462"/>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760305" y="2099462"/>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926726" y="2099462"/>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593884" y="2265883"/>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760305" y="2265883"/>
            <a:ext cx="143560" cy="143560"/>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926726" y="2265883"/>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593884" y="2432304"/>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760305" y="2432304"/>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926726" y="2432304"/>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093147" y="2099462"/>
            <a:ext cx="143560" cy="143560"/>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0259568" y="2099462"/>
            <a:ext cx="143560" cy="143560"/>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425988" y="2099462"/>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093147" y="2265883"/>
            <a:ext cx="143560" cy="143560"/>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259568" y="2265883"/>
            <a:ext cx="143560" cy="143560"/>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0425988" y="2265883"/>
            <a:ext cx="143560" cy="143560"/>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0093147" y="2432304"/>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0259568" y="2432304"/>
            <a:ext cx="143560" cy="143560"/>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0425988" y="2432304"/>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094622" y="2598724"/>
            <a:ext cx="143560" cy="143560"/>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261043" y="2598724"/>
            <a:ext cx="143560" cy="143560"/>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9427464" y="2598724"/>
            <a:ext cx="143560" cy="143560"/>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094622" y="2765145"/>
            <a:ext cx="143560" cy="143560"/>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261043" y="2765145"/>
            <a:ext cx="143560" cy="143560"/>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9427464" y="2765145"/>
            <a:ext cx="143560" cy="143560"/>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9094622" y="2931566"/>
            <a:ext cx="143560" cy="143560"/>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9261043" y="2931566"/>
            <a:ext cx="143560" cy="143560"/>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9427464" y="2931566"/>
            <a:ext cx="143560" cy="143560"/>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Nội dung trình bày</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02</a:t>
            </a:r>
          </a:p>
        </p:txBody>
      </p:sp>
      <p:sp>
        <p:nvSpPr>
          <p:cNvPr id="5" name="Rounded Rectangle 4"/>
          <p:cNvSpPr/>
          <p:nvPr/>
        </p:nvSpPr>
        <p:spPr>
          <a:xfrm>
            <a:off x="822960" y="1325880"/>
            <a:ext cx="4983480" cy="105156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325880"/>
            <a:ext cx="73152" cy="105156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444752"/>
            <a:ext cx="4663440"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01  Giới thiệu</a:t>
            </a:r>
          </a:p>
        </p:txBody>
      </p:sp>
      <p:sp>
        <p:nvSpPr>
          <p:cNvPr id="8" name="TextBox 7"/>
          <p:cNvSpPr txBox="1"/>
          <p:nvPr/>
        </p:nvSpPr>
        <p:spPr>
          <a:xfrm>
            <a:off x="1024128" y="1856231"/>
            <a:ext cx="4636008" cy="42976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Bối cảnh và mục tiêu</a:t>
            </a:r>
          </a:p>
        </p:txBody>
      </p:sp>
      <p:sp>
        <p:nvSpPr>
          <p:cNvPr id="9" name="Rounded Rectangle 8"/>
          <p:cNvSpPr/>
          <p:nvPr/>
        </p:nvSpPr>
        <p:spPr>
          <a:xfrm>
            <a:off x="6309360" y="1325880"/>
            <a:ext cx="4983480" cy="105156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325880"/>
            <a:ext cx="73152" cy="105156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0528" y="1444752"/>
            <a:ext cx="4663440"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02  Bài toán</a:t>
            </a:r>
          </a:p>
        </p:txBody>
      </p:sp>
      <p:sp>
        <p:nvSpPr>
          <p:cNvPr id="12" name="TextBox 11"/>
          <p:cNvSpPr txBox="1"/>
          <p:nvPr/>
        </p:nvSpPr>
        <p:spPr>
          <a:xfrm>
            <a:off x="6510528" y="1856231"/>
            <a:ext cx="4636008" cy="42976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Trạng thái và thách thức</a:t>
            </a:r>
          </a:p>
        </p:txBody>
      </p:sp>
      <p:sp>
        <p:nvSpPr>
          <p:cNvPr id="13" name="Rounded Rectangle 12"/>
          <p:cNvSpPr/>
          <p:nvPr/>
        </p:nvSpPr>
        <p:spPr>
          <a:xfrm>
            <a:off x="822960" y="2743200"/>
            <a:ext cx="4983480" cy="105156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 y="2743200"/>
            <a:ext cx="73152" cy="1051560"/>
          </a:xfrm>
          <a:prstGeom prst="rect">
            <a:avLst/>
          </a:prstGeom>
          <a:solidFill>
            <a:srgbClr val="37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24128" y="2862072"/>
            <a:ext cx="4663440"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03  Phương pháp</a:t>
            </a:r>
          </a:p>
        </p:txBody>
      </p:sp>
      <p:sp>
        <p:nvSpPr>
          <p:cNvPr id="16" name="TextBox 15"/>
          <p:cNvSpPr txBox="1"/>
          <p:nvPr/>
        </p:nvSpPr>
        <p:spPr>
          <a:xfrm>
            <a:off x="1024128" y="3273552"/>
            <a:ext cx="4636008" cy="42976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Kiến trúc và Kociemba</a:t>
            </a:r>
          </a:p>
        </p:txBody>
      </p:sp>
      <p:sp>
        <p:nvSpPr>
          <p:cNvPr id="17" name="Rounded Rectangle 16"/>
          <p:cNvSpPr/>
          <p:nvPr/>
        </p:nvSpPr>
        <p:spPr>
          <a:xfrm>
            <a:off x="6309360" y="2743200"/>
            <a:ext cx="4983480" cy="105156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09360" y="2743200"/>
            <a:ext cx="73152" cy="1051560"/>
          </a:xfrm>
          <a:prstGeom prst="rect">
            <a:avLst/>
          </a:prstGeom>
          <a:solidFill>
            <a:srgbClr val="419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0528" y="2862072"/>
            <a:ext cx="4663440"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04  Thực nghiệm</a:t>
            </a:r>
          </a:p>
        </p:txBody>
      </p:sp>
      <p:sp>
        <p:nvSpPr>
          <p:cNvPr id="20" name="TextBox 19"/>
          <p:cNvSpPr txBox="1"/>
          <p:nvPr/>
        </p:nvSpPr>
        <p:spPr>
          <a:xfrm>
            <a:off x="6510528" y="3273552"/>
            <a:ext cx="4636008" cy="42976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Cài đặt, kết quả, demo</a:t>
            </a:r>
          </a:p>
        </p:txBody>
      </p:sp>
      <p:sp>
        <p:nvSpPr>
          <p:cNvPr id="21" name="Rounded Rectangle 20"/>
          <p:cNvSpPr/>
          <p:nvPr/>
        </p:nvSpPr>
        <p:spPr>
          <a:xfrm>
            <a:off x="822960" y="4160520"/>
            <a:ext cx="4983480" cy="105156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2960" y="4160520"/>
            <a:ext cx="73152" cy="105156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24128" y="4279392"/>
            <a:ext cx="4663440"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05  Kết luận</a:t>
            </a:r>
          </a:p>
        </p:txBody>
      </p:sp>
      <p:sp>
        <p:nvSpPr>
          <p:cNvPr id="24" name="TextBox 23"/>
          <p:cNvSpPr txBox="1"/>
          <p:nvPr/>
        </p:nvSpPr>
        <p:spPr>
          <a:xfrm>
            <a:off x="1024128" y="4690872"/>
            <a:ext cx="4636008" cy="42976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Hạn chế và phát triển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Bối cảnh và động lực</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03</a:t>
            </a:r>
          </a:p>
        </p:txBody>
      </p:sp>
      <p:sp>
        <p:nvSpPr>
          <p:cNvPr id="5" name="TextBox 4"/>
          <p:cNvSpPr txBox="1"/>
          <p:nvPr/>
        </p:nvSpPr>
        <p:spPr>
          <a:xfrm>
            <a:off x="777240" y="1234440"/>
            <a:ext cx="5486400" cy="4480560"/>
          </a:xfrm>
          <a:prstGeom prst="rect">
            <a:avLst/>
          </a:prstGeom>
          <a:noFill/>
        </p:spPr>
        <p:txBody>
          <a:bodyPr wrap="none" lIns="36576" rIns="45720" bIns="18288">
            <a:spAutoFit/>
          </a:bodyPr>
          <a:lstStyle/>
          <a:p>
            <a:pPr>
              <a:buChar char="•"/>
              <a:defRPr sz="2000">
                <a:solidFill>
                  <a:srgbClr val="233041"/>
                </a:solidFill>
                <a:latin typeface="Aptos"/>
              </a:defRPr>
            </a:pPr>
            <a:r>
              <a:t>Rubik 3×3×3 có khoảng 4,3 × 10¹⁹ trạng thái</a:t>
            </a:r>
          </a:p>
          <a:p>
            <a:pPr>
              <a:buChar char="•"/>
              <a:defRPr sz="2000">
                <a:solidFill>
                  <a:srgbClr val="233041"/>
                </a:solidFill>
                <a:latin typeface="Aptos"/>
              </a:defRPr>
            </a:pPr>
            <a:r>
              <a:t>Kết hợp đồ họa 3D và tìm kiếm không gian trạng thái</a:t>
            </a:r>
          </a:p>
          <a:p>
            <a:pPr>
              <a:buChar char="•"/>
              <a:defRPr sz="2000">
                <a:solidFill>
                  <a:srgbClr val="233041"/>
                </a:solidFill>
                <a:latin typeface="Aptos"/>
              </a:defRPr>
            </a:pPr>
            <a:r>
              <a:t>Nối mô hình trực quan với lõi logic giải bài toán</a:t>
            </a:r>
          </a:p>
          <a:p>
            <a:pPr>
              <a:buChar char="•"/>
              <a:defRPr sz="2000">
                <a:solidFill>
                  <a:srgbClr val="233041"/>
                </a:solidFill>
                <a:latin typeface="Aptos"/>
              </a:defRPr>
            </a:pPr>
            <a:r>
              <a:t>Giá trị giáo dục: thuật toán, hình học và lập trình</a:t>
            </a:r>
          </a:p>
        </p:txBody>
      </p:sp>
      <p:sp>
        <p:nvSpPr>
          <p:cNvPr id="6" name="Rectangle 5"/>
          <p:cNvSpPr/>
          <p:nvPr/>
        </p:nvSpPr>
        <p:spPr>
          <a:xfrm>
            <a:off x="7852867" y="1554480"/>
            <a:ext cx="156362" cy="156362"/>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32089" y="1554480"/>
            <a:ext cx="156362" cy="156362"/>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11312" y="1554480"/>
            <a:ext cx="156362" cy="156362"/>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852867" y="1733702"/>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032089" y="1733702"/>
            <a:ext cx="156362" cy="156362"/>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11312" y="1733702"/>
            <a:ext cx="156362" cy="156362"/>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852867" y="1912924"/>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32089" y="1912924"/>
            <a:ext cx="156362" cy="156362"/>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11312" y="1912924"/>
            <a:ext cx="156362" cy="156362"/>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0" y="2092147"/>
            <a:ext cx="156362" cy="156362"/>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494422" y="2092147"/>
            <a:ext cx="156362" cy="156362"/>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73644" y="2092147"/>
            <a:ext cx="156362" cy="156362"/>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0" y="2271369"/>
            <a:ext cx="156362" cy="156362"/>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94422" y="2271369"/>
            <a:ext cx="156362" cy="156362"/>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673644" y="2271369"/>
            <a:ext cx="156362" cy="156362"/>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0" y="2450592"/>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494422" y="2450592"/>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673644" y="2450592"/>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852867" y="2092147"/>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32089" y="2092147"/>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11312" y="2092147"/>
            <a:ext cx="156362" cy="156362"/>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852867" y="2271369"/>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32089" y="2271369"/>
            <a:ext cx="156362" cy="156362"/>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211312" y="2271369"/>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852867" y="2450592"/>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32089" y="2450592"/>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11312" y="2450592"/>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390534" y="2092147"/>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569756" y="2092147"/>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748979" y="2092147"/>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390534" y="2271369"/>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569756" y="2271369"/>
            <a:ext cx="156362" cy="156362"/>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748979" y="2271369"/>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390534" y="2450592"/>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569756" y="2450592"/>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748979" y="2450592"/>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928201" y="2092147"/>
            <a:ext cx="156362" cy="156362"/>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107424" y="2092147"/>
            <a:ext cx="156362" cy="156362"/>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286646" y="2092147"/>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928201" y="2271369"/>
            <a:ext cx="156362" cy="156362"/>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107424" y="2271369"/>
            <a:ext cx="156362" cy="156362"/>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9286646" y="2271369"/>
            <a:ext cx="156362" cy="156362"/>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928201" y="2450592"/>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107424" y="2450592"/>
            <a:ext cx="156362" cy="156362"/>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286646" y="2450592"/>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852867" y="2629814"/>
            <a:ext cx="156362" cy="156362"/>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032089" y="2629814"/>
            <a:ext cx="156362" cy="156362"/>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211312" y="2629814"/>
            <a:ext cx="156362" cy="156362"/>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852867" y="2809036"/>
            <a:ext cx="156362" cy="156362"/>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032089" y="2809036"/>
            <a:ext cx="156362" cy="156362"/>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211312" y="2809036"/>
            <a:ext cx="156362" cy="156362"/>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852867" y="2988259"/>
            <a:ext cx="156362" cy="156362"/>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032089" y="2988259"/>
            <a:ext cx="156362" cy="156362"/>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211312" y="2988259"/>
            <a:ext cx="156362" cy="156362"/>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315200" y="3213201"/>
            <a:ext cx="2688336" cy="274320"/>
          </a:xfrm>
          <a:prstGeom prst="rect">
            <a:avLst/>
          </a:prstGeom>
          <a:noFill/>
        </p:spPr>
        <p:txBody>
          <a:bodyPr wrap="none" lIns="54864" tIns="54864" rIns="54864" bIns="54864" anchor="ctr">
            <a:spAutoFit/>
          </a:bodyPr>
          <a:lstStyle/>
          <a:p>
            <a:pPr algn="ctr">
              <a:spcAft>
                <a:spcPts val="400"/>
              </a:spcAft>
              <a:defRPr sz="700" b="1">
                <a:solidFill>
                  <a:srgbClr val="5F6E80"/>
                </a:solidFill>
                <a:latin typeface="Aptos"/>
              </a:defRPr>
            </a:pPr>
            <a:r>
              <a:t>SAU XÁO TRỘN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Mục tiêu và câu hỏi nghiên cứu</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04</a:t>
            </a:r>
          </a:p>
        </p:txBody>
      </p:sp>
      <p:sp>
        <p:nvSpPr>
          <p:cNvPr id="5" name="TextBox 4"/>
          <p:cNvSpPr txBox="1"/>
          <p:nvPr/>
        </p:nvSpPr>
        <p:spPr>
          <a:xfrm>
            <a:off x="777240" y="1234440"/>
            <a:ext cx="5486400" cy="4480560"/>
          </a:xfrm>
          <a:prstGeom prst="rect">
            <a:avLst/>
          </a:prstGeom>
          <a:noFill/>
        </p:spPr>
        <p:txBody>
          <a:bodyPr wrap="none" lIns="36576" rIns="45720" bIns="18288">
            <a:spAutoFit/>
          </a:bodyPr>
          <a:lstStyle/>
          <a:p>
            <a:pPr>
              <a:buChar char="•"/>
              <a:defRPr sz="2000">
                <a:solidFill>
                  <a:srgbClr val="233041"/>
                </a:solidFill>
                <a:latin typeface="Aptos"/>
              </a:defRPr>
            </a:pPr>
            <a:r>
              <a:t>Mô phỏng Rubik 3D có thể tương tác</a:t>
            </a:r>
          </a:p>
          <a:p>
            <a:pPr>
              <a:buChar char="•"/>
              <a:defRPr sz="2000">
                <a:solidFill>
                  <a:srgbClr val="233041"/>
                </a:solidFill>
                <a:latin typeface="Aptos"/>
              </a:defRPr>
            </a:pPr>
            <a:r>
              <a:t>Trích xuất trạng thái từ 54 ô màu</a:t>
            </a:r>
          </a:p>
          <a:p>
            <a:pPr>
              <a:buChar char="•"/>
              <a:defRPr sz="2000">
                <a:solidFill>
                  <a:srgbClr val="233041"/>
                </a:solidFill>
                <a:latin typeface="Aptos"/>
              </a:defRPr>
            </a:pPr>
            <a:r>
              <a:t>Tích hợp Kociemba và phát lại lời giải</a:t>
            </a:r>
          </a:p>
          <a:p>
            <a:pPr>
              <a:buChar char="•"/>
              <a:defRPr sz="2000">
                <a:solidFill>
                  <a:srgbClr val="233041"/>
                </a:solidFill>
                <a:latin typeface="Aptos"/>
              </a:defRPr>
            </a:pPr>
            <a:r>
              <a:t>Animation mượt, dễ quan sát từng phép quay</a:t>
            </a:r>
          </a:p>
        </p:txBody>
      </p:sp>
      <p:sp>
        <p:nvSpPr>
          <p:cNvPr id="6" name="Rounded Rectangle 5"/>
          <p:cNvSpPr/>
          <p:nvPr/>
        </p:nvSpPr>
        <p:spPr>
          <a:xfrm>
            <a:off x="6492240" y="1417320"/>
            <a:ext cx="4663440" cy="141732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92240" y="1417320"/>
            <a:ext cx="73152" cy="141732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93407" y="1536192"/>
            <a:ext cx="434340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Câu hỏi 1</a:t>
            </a:r>
          </a:p>
        </p:txBody>
      </p:sp>
      <p:sp>
        <p:nvSpPr>
          <p:cNvPr id="9" name="TextBox 8"/>
          <p:cNvSpPr txBox="1"/>
          <p:nvPr/>
        </p:nvSpPr>
        <p:spPr>
          <a:xfrm>
            <a:off x="6693407" y="1947672"/>
            <a:ext cx="4315968" cy="795528"/>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Kociemba có giải nhanh các trạng thái xáo trộn?</a:t>
            </a:r>
          </a:p>
        </p:txBody>
      </p:sp>
      <p:sp>
        <p:nvSpPr>
          <p:cNvPr id="10" name="Rounded Rectangle 9"/>
          <p:cNvSpPr/>
          <p:nvPr/>
        </p:nvSpPr>
        <p:spPr>
          <a:xfrm>
            <a:off x="6492240" y="3063240"/>
            <a:ext cx="4663440" cy="141732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92240" y="3063240"/>
            <a:ext cx="73152" cy="141732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7" y="3182112"/>
            <a:ext cx="434340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Câu hỏi 2</a:t>
            </a:r>
          </a:p>
        </p:txBody>
      </p:sp>
      <p:sp>
        <p:nvSpPr>
          <p:cNvPr id="13" name="TextBox 12"/>
          <p:cNvSpPr txBox="1"/>
          <p:nvPr/>
        </p:nvSpPr>
        <p:spPr>
          <a:xfrm>
            <a:off x="6693407" y="3593592"/>
            <a:ext cx="4315968" cy="795528"/>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Ánh xạ 3D → trạng thái có giữ đúng cấu hình?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Phát biểu bài toán</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05</a:t>
            </a:r>
          </a:p>
        </p:txBody>
      </p:sp>
      <p:sp>
        <p:nvSpPr>
          <p:cNvPr id="5" name="TextBox 4"/>
          <p:cNvSpPr txBox="1"/>
          <p:nvPr/>
        </p:nvSpPr>
        <p:spPr>
          <a:xfrm>
            <a:off x="777240" y="1234440"/>
            <a:ext cx="5486400" cy="4480560"/>
          </a:xfrm>
          <a:prstGeom prst="rect">
            <a:avLst/>
          </a:prstGeom>
          <a:noFill/>
        </p:spPr>
        <p:txBody>
          <a:bodyPr wrap="none" lIns="36576" rIns="45720" bIns="18288">
            <a:spAutoFit/>
          </a:bodyPr>
          <a:lstStyle/>
          <a:p>
            <a:pPr>
              <a:buChar char="•"/>
              <a:defRPr sz="2000">
                <a:solidFill>
                  <a:srgbClr val="233041"/>
                </a:solidFill>
                <a:latin typeface="Aptos"/>
              </a:defRPr>
            </a:pPr>
            <a:r>
              <a:t>Đầu vào: trạng thái Rubik sau thao tác hoặc xáo trộn</a:t>
            </a:r>
          </a:p>
          <a:p>
            <a:pPr>
              <a:buChar char="•"/>
              <a:defRPr sz="2000">
                <a:solidFill>
                  <a:srgbClr val="233041"/>
                </a:solidFill>
                <a:latin typeface="Aptos"/>
              </a:defRPr>
            </a:pPr>
            <a:r>
              <a:t>Bước 1 — Nhận diện và mã hóa trạng thái</a:t>
            </a:r>
          </a:p>
          <a:p>
            <a:pPr>
              <a:buChar char="•"/>
              <a:defRPr sz="2000">
                <a:solidFill>
                  <a:srgbClr val="233041"/>
                </a:solidFill>
                <a:latin typeface="Aptos"/>
              </a:defRPr>
            </a:pPr>
            <a:r>
              <a:t>Bước 2 — Tìm chuỗi phép quay giải Rubik</a:t>
            </a:r>
          </a:p>
          <a:p>
            <a:pPr>
              <a:buChar char="•"/>
              <a:defRPr sz="2000">
                <a:solidFill>
                  <a:srgbClr val="233041"/>
                </a:solidFill>
                <a:latin typeface="Aptos"/>
              </a:defRPr>
            </a:pPr>
            <a:r>
              <a:t>Bước 3 — Mô phỏng lời giải trực quan</a:t>
            </a:r>
          </a:p>
        </p:txBody>
      </p:sp>
      <p:sp>
        <p:nvSpPr>
          <p:cNvPr id="6" name="Rounded Rectangle 5"/>
          <p:cNvSpPr/>
          <p:nvPr/>
        </p:nvSpPr>
        <p:spPr>
          <a:xfrm>
            <a:off x="777240" y="4023360"/>
            <a:ext cx="3246120" cy="11430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4023360"/>
            <a:ext cx="73152" cy="114300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4142232"/>
            <a:ext cx="2926079"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01</a:t>
            </a:r>
          </a:p>
        </p:txBody>
      </p:sp>
      <p:sp>
        <p:nvSpPr>
          <p:cNvPr id="9" name="TextBox 8"/>
          <p:cNvSpPr txBox="1"/>
          <p:nvPr/>
        </p:nvSpPr>
        <p:spPr>
          <a:xfrm>
            <a:off x="978408" y="4553712"/>
            <a:ext cx="2898648" cy="521207"/>
          </a:xfrm>
          <a:prstGeom prst="rect">
            <a:avLst/>
          </a:prstGeom>
          <a:noFill/>
        </p:spPr>
        <p:txBody>
          <a:bodyPr wrap="none" lIns="54864" tIns="54864" rIns="54864" bIns="54864" anchor="t">
            <a:spAutoFit/>
          </a:bodyPr>
          <a:lstStyle/>
          <a:p>
            <a:pPr>
              <a:spcAft>
                <a:spcPts val="400"/>
              </a:spcAft>
              <a:defRPr sz="1500" b="0">
                <a:solidFill>
                  <a:srgbClr val="233041"/>
                </a:solidFill>
                <a:latin typeface="Aptos"/>
              </a:defRPr>
            </a:pPr>
            <a:r>
              <a:t>Nhận diện trạng thái</a:t>
            </a:r>
          </a:p>
        </p:txBody>
      </p:sp>
      <p:sp>
        <p:nvSpPr>
          <p:cNvPr id="10" name="Chevron 9"/>
          <p:cNvSpPr/>
          <p:nvPr/>
        </p:nvSpPr>
        <p:spPr>
          <a:xfrm>
            <a:off x="4114800" y="4361688"/>
            <a:ext cx="347472" cy="384048"/>
          </a:xfrm>
          <a:prstGeom prst="chevron">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0" y="4023360"/>
            <a:ext cx="3246120" cy="11430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0" y="4023360"/>
            <a:ext cx="73152" cy="1143000"/>
          </a:xfrm>
          <a:prstGeom prst="rect">
            <a:avLst/>
          </a:prstGeom>
          <a:solidFill>
            <a:srgbClr val="37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73168" y="4142232"/>
            <a:ext cx="2926079"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02</a:t>
            </a:r>
          </a:p>
        </p:txBody>
      </p:sp>
      <p:sp>
        <p:nvSpPr>
          <p:cNvPr id="14" name="TextBox 13"/>
          <p:cNvSpPr txBox="1"/>
          <p:nvPr/>
        </p:nvSpPr>
        <p:spPr>
          <a:xfrm>
            <a:off x="4773168" y="4553712"/>
            <a:ext cx="2898648" cy="521207"/>
          </a:xfrm>
          <a:prstGeom prst="rect">
            <a:avLst/>
          </a:prstGeom>
          <a:noFill/>
        </p:spPr>
        <p:txBody>
          <a:bodyPr wrap="none" lIns="54864" tIns="54864" rIns="54864" bIns="54864" anchor="t">
            <a:spAutoFit/>
          </a:bodyPr>
          <a:lstStyle/>
          <a:p>
            <a:pPr>
              <a:spcAft>
                <a:spcPts val="400"/>
              </a:spcAft>
              <a:defRPr sz="1500" b="0">
                <a:solidFill>
                  <a:srgbClr val="233041"/>
                </a:solidFill>
                <a:latin typeface="Aptos"/>
              </a:defRPr>
            </a:pPr>
            <a:r>
              <a:t>Tìm lời giải</a:t>
            </a:r>
          </a:p>
        </p:txBody>
      </p:sp>
      <p:sp>
        <p:nvSpPr>
          <p:cNvPr id="15" name="Chevron 14"/>
          <p:cNvSpPr/>
          <p:nvPr/>
        </p:nvSpPr>
        <p:spPr>
          <a:xfrm>
            <a:off x="7909560" y="4361688"/>
            <a:ext cx="347472" cy="384048"/>
          </a:xfrm>
          <a:prstGeom prst="chevron">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366760" y="4023360"/>
            <a:ext cx="3246120" cy="11430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66760" y="4023360"/>
            <a:ext cx="73152" cy="114300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67928" y="4142232"/>
            <a:ext cx="2926079"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03</a:t>
            </a:r>
          </a:p>
        </p:txBody>
      </p:sp>
      <p:sp>
        <p:nvSpPr>
          <p:cNvPr id="19" name="TextBox 18"/>
          <p:cNvSpPr txBox="1"/>
          <p:nvPr/>
        </p:nvSpPr>
        <p:spPr>
          <a:xfrm>
            <a:off x="8567928" y="4553712"/>
            <a:ext cx="2898648" cy="521207"/>
          </a:xfrm>
          <a:prstGeom prst="rect">
            <a:avLst/>
          </a:prstGeom>
          <a:noFill/>
        </p:spPr>
        <p:txBody>
          <a:bodyPr wrap="none" lIns="54864" tIns="54864" rIns="54864" bIns="54864" anchor="t">
            <a:spAutoFit/>
          </a:bodyPr>
          <a:lstStyle/>
          <a:p>
            <a:pPr>
              <a:spcAft>
                <a:spcPts val="400"/>
              </a:spcAft>
              <a:defRPr sz="1500" b="0">
                <a:solidFill>
                  <a:srgbClr val="233041"/>
                </a:solidFill>
                <a:latin typeface="Aptos"/>
              </a:defRPr>
            </a:pPr>
            <a:r>
              <a:t>Phát animation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Mô hình hóa toán học</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06</a:t>
            </a:r>
          </a:p>
        </p:txBody>
      </p:sp>
      <p:sp>
        <p:nvSpPr>
          <p:cNvPr id="5" name="TextBox 4"/>
          <p:cNvSpPr txBox="1"/>
          <p:nvPr/>
        </p:nvSpPr>
        <p:spPr>
          <a:xfrm>
            <a:off x="777240" y="1234440"/>
            <a:ext cx="5486400" cy="4480560"/>
          </a:xfrm>
          <a:prstGeom prst="rect">
            <a:avLst/>
          </a:prstGeom>
          <a:noFill/>
        </p:spPr>
        <p:txBody>
          <a:bodyPr wrap="none" lIns="36576" rIns="45720" bIns="18288">
            <a:spAutoFit/>
          </a:bodyPr>
          <a:lstStyle/>
          <a:p>
            <a:pPr>
              <a:buChar char="•"/>
              <a:defRPr sz="2000">
                <a:solidFill>
                  <a:srgbClr val="233041"/>
                </a:solidFill>
                <a:latin typeface="Aptos"/>
              </a:defRPr>
            </a:pPr>
            <a:r>
              <a:t>Trạng thái: chuỗi 54 ký tự đại diện 54 ô màu</a:t>
            </a:r>
          </a:p>
          <a:p>
            <a:pPr>
              <a:buChar char="•"/>
              <a:defRPr sz="2000">
                <a:solidFill>
                  <a:srgbClr val="233041"/>
                </a:solidFill>
                <a:latin typeface="Aptos"/>
              </a:defRPr>
            </a:pPr>
            <a:r>
              <a:t>Trạng thái đầu: state_init; đích: state_goal</a:t>
            </a:r>
          </a:p>
          <a:p>
            <a:pPr>
              <a:buChar char="•"/>
              <a:defRPr sz="2000">
                <a:solidFill>
                  <a:srgbClr val="233041"/>
                </a:solidFill>
                <a:latin typeface="Aptos"/>
              </a:defRPr>
            </a:pPr>
            <a:r>
              <a:t>Tập hành động: 18 phép quay mặt Rubik</a:t>
            </a:r>
          </a:p>
          <a:p>
            <a:pPr>
              <a:buChar char="•"/>
              <a:defRPr sz="2000">
                <a:solidFill>
                  <a:srgbClr val="233041"/>
                </a:solidFill>
                <a:latin typeface="Aptos"/>
              </a:defRPr>
            </a:pPr>
            <a:r>
              <a:t>Mục tiêu: Apply(S, state_init) = state_goal</a:t>
            </a:r>
          </a:p>
          <a:p>
            <a:pPr>
              <a:buChar char="•"/>
              <a:defRPr sz="2000">
                <a:solidFill>
                  <a:srgbClr val="233041"/>
                </a:solidFill>
                <a:latin typeface="Aptos"/>
              </a:defRPr>
            </a:pPr>
            <a:r>
              <a:t>Không gian trạng thái rất lớn; cần tìm kiếm có định hướng</a:t>
            </a:r>
          </a:p>
        </p:txBody>
      </p:sp>
      <p:sp>
        <p:nvSpPr>
          <p:cNvPr id="6" name="Rounded Rectangle 5"/>
          <p:cNvSpPr/>
          <p:nvPr/>
        </p:nvSpPr>
        <p:spPr>
          <a:xfrm>
            <a:off x="6720840" y="1508760"/>
            <a:ext cx="4297680" cy="100584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720840" y="1508760"/>
            <a:ext cx="73152" cy="100584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22007" y="1627631"/>
            <a:ext cx="397764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Đầu vào</a:t>
            </a:r>
          </a:p>
        </p:txBody>
      </p:sp>
      <p:sp>
        <p:nvSpPr>
          <p:cNvPr id="9" name="TextBox 8"/>
          <p:cNvSpPr txBox="1"/>
          <p:nvPr/>
        </p:nvSpPr>
        <p:spPr>
          <a:xfrm>
            <a:off x="6922007" y="2039112"/>
            <a:ext cx="3950208" cy="384048"/>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54 ký tự / trạng thái</a:t>
            </a:r>
          </a:p>
        </p:txBody>
      </p:sp>
      <p:sp>
        <p:nvSpPr>
          <p:cNvPr id="10" name="Rounded Rectangle 9"/>
          <p:cNvSpPr/>
          <p:nvPr/>
        </p:nvSpPr>
        <p:spPr>
          <a:xfrm>
            <a:off x="6720840" y="2788920"/>
            <a:ext cx="4297680" cy="100584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720840" y="2788920"/>
            <a:ext cx="73152" cy="1005840"/>
          </a:xfrm>
          <a:prstGeom prst="rect">
            <a:avLst/>
          </a:prstGeom>
          <a:solidFill>
            <a:srgbClr val="37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22007" y="2907791"/>
            <a:ext cx="397764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Bộ giải</a:t>
            </a:r>
          </a:p>
        </p:txBody>
      </p:sp>
      <p:sp>
        <p:nvSpPr>
          <p:cNvPr id="13" name="TextBox 12"/>
          <p:cNvSpPr txBox="1"/>
          <p:nvPr/>
        </p:nvSpPr>
        <p:spPr>
          <a:xfrm>
            <a:off x="6922007" y="3319272"/>
            <a:ext cx="3950208" cy="384048"/>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Chuỗi phép quay S</a:t>
            </a:r>
          </a:p>
        </p:txBody>
      </p:sp>
      <p:sp>
        <p:nvSpPr>
          <p:cNvPr id="14" name="Rounded Rectangle 13"/>
          <p:cNvSpPr/>
          <p:nvPr/>
        </p:nvSpPr>
        <p:spPr>
          <a:xfrm>
            <a:off x="6720840" y="4069080"/>
            <a:ext cx="4297680" cy="100584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720840" y="4069080"/>
            <a:ext cx="73152" cy="100584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22007" y="4187952"/>
            <a:ext cx="397764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Đầu ra</a:t>
            </a:r>
          </a:p>
        </p:txBody>
      </p:sp>
      <p:sp>
        <p:nvSpPr>
          <p:cNvPr id="17" name="TextBox 16"/>
          <p:cNvSpPr txBox="1"/>
          <p:nvPr/>
        </p:nvSpPr>
        <p:spPr>
          <a:xfrm>
            <a:off x="6922007" y="4599432"/>
            <a:ext cx="3950208" cy="384048"/>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Trạng thái đích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Khó khăn và thách thức</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07</a:t>
            </a:r>
          </a:p>
        </p:txBody>
      </p:sp>
      <p:sp>
        <p:nvSpPr>
          <p:cNvPr id="5" name="TextBox 4"/>
          <p:cNvSpPr txBox="1"/>
          <p:nvPr/>
        </p:nvSpPr>
        <p:spPr>
          <a:xfrm>
            <a:off x="777240" y="1234440"/>
            <a:ext cx="5486400" cy="4480560"/>
          </a:xfrm>
          <a:prstGeom prst="rect">
            <a:avLst/>
          </a:prstGeom>
          <a:noFill/>
        </p:spPr>
        <p:txBody>
          <a:bodyPr wrap="none" lIns="36576" rIns="45720" bIns="18288">
            <a:spAutoFit/>
          </a:bodyPr>
          <a:lstStyle/>
          <a:p>
            <a:pPr>
              <a:buChar char="•"/>
              <a:defRPr sz="2000">
                <a:solidFill>
                  <a:srgbClr val="233041"/>
                </a:solidFill>
                <a:latin typeface="Aptos"/>
              </a:defRPr>
            </a:pPr>
            <a:r>
              <a:t>Không gian trạng thái khổng lồ</a:t>
            </a:r>
          </a:p>
          <a:p>
            <a:pPr>
              <a:buChar char="•"/>
              <a:defRPr sz="2000">
                <a:solidFill>
                  <a:srgbClr val="233041"/>
                </a:solidFill>
                <a:latin typeface="Aptos"/>
              </a:defRPr>
            </a:pPr>
            <a:r>
              <a:t>Ánh xạ chính xác tọa độ 3D sang chuỗi 54 ô</a:t>
            </a:r>
          </a:p>
          <a:p>
            <a:pPr>
              <a:buChar char="•"/>
              <a:defRPr sz="2000">
                <a:solidFill>
                  <a:srgbClr val="233041"/>
                </a:solidFill>
                <a:latin typeface="Aptos"/>
              </a:defRPr>
            </a:pPr>
            <a:r>
              <a:t>Phân biệt màu khi người dùng xoay liên tục</a:t>
            </a:r>
          </a:p>
          <a:p>
            <a:pPr>
              <a:buChar char="•"/>
              <a:defRPr sz="2000">
                <a:solidFill>
                  <a:srgbClr val="233041"/>
                </a:solidFill>
                <a:latin typeface="Aptos"/>
              </a:defRPr>
            </a:pPr>
            <a:r>
              <a:t>Giữ animation mượt mà mà không lệch trạng thái</a:t>
            </a:r>
          </a:p>
        </p:txBody>
      </p:sp>
      <p:sp>
        <p:nvSpPr>
          <p:cNvPr id="6" name="Rounded Rectangle 5"/>
          <p:cNvSpPr/>
          <p:nvPr/>
        </p:nvSpPr>
        <p:spPr>
          <a:xfrm>
            <a:off x="6583680" y="1325880"/>
            <a:ext cx="4572000" cy="109728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0" y="1325880"/>
            <a:ext cx="73152" cy="109728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84848" y="1444752"/>
            <a:ext cx="425196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Tìm kiếm</a:t>
            </a:r>
          </a:p>
        </p:txBody>
      </p:sp>
      <p:sp>
        <p:nvSpPr>
          <p:cNvPr id="9" name="TextBox 8"/>
          <p:cNvSpPr txBox="1"/>
          <p:nvPr/>
        </p:nvSpPr>
        <p:spPr>
          <a:xfrm>
            <a:off x="6784848" y="1856231"/>
            <a:ext cx="4224528" cy="47548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Giảm số nhánh cần xét</a:t>
            </a:r>
          </a:p>
        </p:txBody>
      </p:sp>
      <p:sp>
        <p:nvSpPr>
          <p:cNvPr id="10" name="Rounded Rectangle 9"/>
          <p:cNvSpPr/>
          <p:nvPr/>
        </p:nvSpPr>
        <p:spPr>
          <a:xfrm>
            <a:off x="6583680" y="2743200"/>
            <a:ext cx="4572000" cy="109728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0" y="2743200"/>
            <a:ext cx="73152" cy="1097280"/>
          </a:xfrm>
          <a:prstGeom prst="rect">
            <a:avLst/>
          </a:prstGeom>
          <a:solidFill>
            <a:srgbClr val="37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84848" y="2862072"/>
            <a:ext cx="425196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Ánh xạ</a:t>
            </a:r>
          </a:p>
        </p:txBody>
      </p:sp>
      <p:sp>
        <p:nvSpPr>
          <p:cNvPr id="13" name="TextBox 12"/>
          <p:cNvSpPr txBox="1"/>
          <p:nvPr/>
        </p:nvSpPr>
        <p:spPr>
          <a:xfrm>
            <a:off x="6784848" y="3273552"/>
            <a:ext cx="4224528" cy="47548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Định danh vị trí và màu</a:t>
            </a:r>
          </a:p>
        </p:txBody>
      </p:sp>
      <p:sp>
        <p:nvSpPr>
          <p:cNvPr id="14" name="Rounded Rectangle 13"/>
          <p:cNvSpPr/>
          <p:nvPr/>
        </p:nvSpPr>
        <p:spPr>
          <a:xfrm>
            <a:off x="6583680" y="4160520"/>
            <a:ext cx="4572000" cy="109728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83680" y="4160520"/>
            <a:ext cx="73152" cy="109728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84848" y="4279392"/>
            <a:ext cx="425196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Hiển thị</a:t>
            </a:r>
          </a:p>
        </p:txBody>
      </p:sp>
      <p:sp>
        <p:nvSpPr>
          <p:cNvPr id="17" name="TextBox 16"/>
          <p:cNvSpPr txBox="1"/>
          <p:nvPr/>
        </p:nvSpPr>
        <p:spPr>
          <a:xfrm>
            <a:off x="6784848" y="4690872"/>
            <a:ext cx="4224528" cy="47548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Đồng bộ hình ảnh – logic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Các phương pháp liên quan</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08</a:t>
            </a:r>
          </a:p>
        </p:txBody>
      </p:sp>
      <p:sp>
        <p:nvSpPr>
          <p:cNvPr id="5" name="Rounded Rectangle 4"/>
          <p:cNvSpPr/>
          <p:nvPr/>
        </p:nvSpPr>
        <p:spPr>
          <a:xfrm>
            <a:off x="594360" y="1417320"/>
            <a:ext cx="2606040" cy="196596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417320"/>
            <a:ext cx="73152" cy="1965960"/>
          </a:xfrm>
          <a:prstGeom prst="rect">
            <a:avLst/>
          </a:prstGeom>
          <a:solidFill>
            <a:srgbClr val="DC4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536192"/>
            <a:ext cx="2286000" cy="365760"/>
          </a:xfrm>
          <a:prstGeom prst="rect">
            <a:avLst/>
          </a:prstGeom>
          <a:noFill/>
        </p:spPr>
        <p:txBody>
          <a:bodyPr wrap="none" lIns="54864" tIns="54864" rIns="54864" bIns="54864" anchor="ctr">
            <a:spAutoFit/>
          </a:bodyPr>
          <a:lstStyle/>
          <a:p>
            <a:pPr>
              <a:spcAft>
                <a:spcPts val="400"/>
              </a:spcAft>
              <a:defRPr sz="1600" b="1">
                <a:solidFill>
                  <a:srgbClr val="0F2341"/>
                </a:solidFill>
                <a:latin typeface="Aptos"/>
              </a:defRPr>
            </a:pPr>
            <a:r>
              <a:t>Brute Force</a:t>
            </a:r>
          </a:p>
        </p:txBody>
      </p:sp>
      <p:sp>
        <p:nvSpPr>
          <p:cNvPr id="8" name="TextBox 7"/>
          <p:cNvSpPr txBox="1"/>
          <p:nvPr/>
        </p:nvSpPr>
        <p:spPr>
          <a:xfrm>
            <a:off x="795528" y="1947672"/>
            <a:ext cx="2258568" cy="1344167"/>
          </a:xfrm>
          <a:prstGeom prst="rect">
            <a:avLst/>
          </a:prstGeom>
          <a:noFill/>
        </p:spPr>
        <p:txBody>
          <a:bodyPr wrap="none" lIns="54864" tIns="54864" rIns="54864" bIns="54864" anchor="t">
            <a:spAutoFit/>
          </a:bodyPr>
          <a:lstStyle/>
          <a:p>
            <a:pPr>
              <a:spcAft>
                <a:spcPts val="400"/>
              </a:spcAft>
              <a:defRPr sz="1300" b="0">
                <a:solidFill>
                  <a:srgbClr val="233041"/>
                </a:solidFill>
                <a:latin typeface="Aptos"/>
              </a:defRPr>
            </a:pPr>
            <a:r>
              <a:t>Mạnh: Đơn giản</a:t>
            </a:r>
          </a:p>
          <a:p>
            <a:pPr>
              <a:spcAft>
                <a:spcPts val="400"/>
              </a:spcAft>
              <a:defRPr sz="1300" b="0">
                <a:solidFill>
                  <a:srgbClr val="233041"/>
                </a:solidFill>
                <a:latin typeface="Aptos"/>
              </a:defRPr>
            </a:pPr>
            <a:r>
              <a:t>Hạn chế: Bùng nổ số trạng thái</a:t>
            </a:r>
          </a:p>
        </p:txBody>
      </p:sp>
      <p:sp>
        <p:nvSpPr>
          <p:cNvPr id="9" name="Rounded Rectangle 8"/>
          <p:cNvSpPr/>
          <p:nvPr/>
        </p:nvSpPr>
        <p:spPr>
          <a:xfrm>
            <a:off x="3474720" y="1417320"/>
            <a:ext cx="2606040" cy="196596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74720" y="1417320"/>
            <a:ext cx="73152" cy="1965960"/>
          </a:xfrm>
          <a:prstGeom prst="rect">
            <a:avLst/>
          </a:prstGeom>
          <a:solidFill>
            <a:srgbClr val="F4C2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75887" y="1536192"/>
            <a:ext cx="2286000" cy="365760"/>
          </a:xfrm>
          <a:prstGeom prst="rect">
            <a:avLst/>
          </a:prstGeom>
          <a:noFill/>
        </p:spPr>
        <p:txBody>
          <a:bodyPr wrap="none" lIns="54864" tIns="54864" rIns="54864" bIns="54864" anchor="ctr">
            <a:spAutoFit/>
          </a:bodyPr>
          <a:lstStyle/>
          <a:p>
            <a:pPr>
              <a:spcAft>
                <a:spcPts val="400"/>
              </a:spcAft>
              <a:defRPr sz="1600" b="1">
                <a:solidFill>
                  <a:srgbClr val="0F2341"/>
                </a:solidFill>
                <a:latin typeface="Aptos"/>
              </a:defRPr>
            </a:pPr>
            <a:r>
              <a:t>Layer-by-Layer</a:t>
            </a:r>
          </a:p>
        </p:txBody>
      </p:sp>
      <p:sp>
        <p:nvSpPr>
          <p:cNvPr id="12" name="TextBox 11"/>
          <p:cNvSpPr txBox="1"/>
          <p:nvPr/>
        </p:nvSpPr>
        <p:spPr>
          <a:xfrm>
            <a:off x="3675887" y="1947672"/>
            <a:ext cx="2258568" cy="1344167"/>
          </a:xfrm>
          <a:prstGeom prst="rect">
            <a:avLst/>
          </a:prstGeom>
          <a:noFill/>
        </p:spPr>
        <p:txBody>
          <a:bodyPr wrap="none" lIns="54864" tIns="54864" rIns="54864" bIns="54864" anchor="t">
            <a:spAutoFit/>
          </a:bodyPr>
          <a:lstStyle/>
          <a:p>
            <a:pPr>
              <a:spcAft>
                <a:spcPts val="400"/>
              </a:spcAft>
              <a:defRPr sz="1300" b="0">
                <a:solidFill>
                  <a:srgbClr val="233041"/>
                </a:solidFill>
                <a:latin typeface="Aptos"/>
              </a:defRPr>
            </a:pPr>
            <a:r>
              <a:t>Mạnh: Dễ hiểu</a:t>
            </a:r>
          </a:p>
          <a:p>
            <a:pPr>
              <a:spcAft>
                <a:spcPts val="400"/>
              </a:spcAft>
              <a:defRPr sz="1300" b="0">
                <a:solidFill>
                  <a:srgbClr val="233041"/>
                </a:solidFill>
                <a:latin typeface="Aptos"/>
              </a:defRPr>
            </a:pPr>
            <a:r>
              <a:t>Hạn chế: Lời giải thường dài</a:t>
            </a:r>
          </a:p>
        </p:txBody>
      </p:sp>
      <p:sp>
        <p:nvSpPr>
          <p:cNvPr id="13" name="Rounded Rectangle 12"/>
          <p:cNvSpPr/>
          <p:nvPr/>
        </p:nvSpPr>
        <p:spPr>
          <a:xfrm>
            <a:off x="6355080" y="1417320"/>
            <a:ext cx="2606040" cy="196596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55080" y="1417320"/>
            <a:ext cx="73152" cy="196596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56248" y="1536192"/>
            <a:ext cx="2286000" cy="365760"/>
          </a:xfrm>
          <a:prstGeom prst="rect">
            <a:avLst/>
          </a:prstGeom>
          <a:noFill/>
        </p:spPr>
        <p:txBody>
          <a:bodyPr wrap="none" lIns="54864" tIns="54864" rIns="54864" bIns="54864" anchor="ctr">
            <a:spAutoFit/>
          </a:bodyPr>
          <a:lstStyle/>
          <a:p>
            <a:pPr>
              <a:spcAft>
                <a:spcPts val="400"/>
              </a:spcAft>
              <a:defRPr sz="1600" b="1">
                <a:solidFill>
                  <a:srgbClr val="0F2341"/>
                </a:solidFill>
                <a:latin typeface="Aptos"/>
              </a:defRPr>
            </a:pPr>
            <a:r>
              <a:t>Kociemba</a:t>
            </a:r>
          </a:p>
        </p:txBody>
      </p:sp>
      <p:sp>
        <p:nvSpPr>
          <p:cNvPr id="16" name="TextBox 15"/>
          <p:cNvSpPr txBox="1"/>
          <p:nvPr/>
        </p:nvSpPr>
        <p:spPr>
          <a:xfrm>
            <a:off x="6556248" y="1947672"/>
            <a:ext cx="2258568" cy="1344167"/>
          </a:xfrm>
          <a:prstGeom prst="rect">
            <a:avLst/>
          </a:prstGeom>
          <a:noFill/>
        </p:spPr>
        <p:txBody>
          <a:bodyPr wrap="none" lIns="54864" tIns="54864" rIns="54864" bIns="54864" anchor="t">
            <a:spAutoFit/>
          </a:bodyPr>
          <a:lstStyle/>
          <a:p>
            <a:pPr>
              <a:spcAft>
                <a:spcPts val="400"/>
              </a:spcAft>
              <a:defRPr sz="1300" b="0">
                <a:solidFill>
                  <a:srgbClr val="233041"/>
                </a:solidFill>
                <a:latin typeface="Aptos"/>
              </a:defRPr>
            </a:pPr>
            <a:r>
              <a:t>Mạnh: Nhanh, lời giải ngắn</a:t>
            </a:r>
          </a:p>
          <a:p>
            <a:pPr>
              <a:spcAft>
                <a:spcPts val="400"/>
              </a:spcAft>
              <a:defRPr sz="1300" b="0">
                <a:solidFill>
                  <a:srgbClr val="233041"/>
                </a:solidFill>
                <a:latin typeface="Aptos"/>
              </a:defRPr>
            </a:pPr>
            <a:r>
              <a:t>Hạn chế: Cần mã hóa chuẩn</a:t>
            </a:r>
          </a:p>
        </p:txBody>
      </p:sp>
      <p:sp>
        <p:nvSpPr>
          <p:cNvPr id="17" name="Rounded Rectangle 16"/>
          <p:cNvSpPr/>
          <p:nvPr/>
        </p:nvSpPr>
        <p:spPr>
          <a:xfrm>
            <a:off x="9235440" y="1417320"/>
            <a:ext cx="2606040" cy="196596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235440" y="1417320"/>
            <a:ext cx="73152" cy="1965960"/>
          </a:xfrm>
          <a:prstGeom prst="rect">
            <a:avLst/>
          </a:prstGeom>
          <a:solidFill>
            <a:srgbClr val="37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36608" y="1536192"/>
            <a:ext cx="2286000" cy="365760"/>
          </a:xfrm>
          <a:prstGeom prst="rect">
            <a:avLst/>
          </a:prstGeom>
          <a:noFill/>
        </p:spPr>
        <p:txBody>
          <a:bodyPr wrap="none" lIns="54864" tIns="54864" rIns="54864" bIns="54864" anchor="ctr">
            <a:spAutoFit/>
          </a:bodyPr>
          <a:lstStyle/>
          <a:p>
            <a:pPr>
              <a:spcAft>
                <a:spcPts val="400"/>
              </a:spcAft>
              <a:defRPr sz="1600" b="1">
                <a:solidFill>
                  <a:srgbClr val="0F2341"/>
                </a:solidFill>
                <a:latin typeface="Aptos"/>
              </a:defRPr>
            </a:pPr>
            <a:r>
              <a:t>RL / ML</a:t>
            </a:r>
          </a:p>
        </p:txBody>
      </p:sp>
      <p:sp>
        <p:nvSpPr>
          <p:cNvPr id="20" name="TextBox 19"/>
          <p:cNvSpPr txBox="1"/>
          <p:nvPr/>
        </p:nvSpPr>
        <p:spPr>
          <a:xfrm>
            <a:off x="9436608" y="1947672"/>
            <a:ext cx="2258568" cy="1344167"/>
          </a:xfrm>
          <a:prstGeom prst="rect">
            <a:avLst/>
          </a:prstGeom>
          <a:noFill/>
        </p:spPr>
        <p:txBody>
          <a:bodyPr wrap="none" lIns="54864" tIns="54864" rIns="54864" bIns="54864" anchor="t">
            <a:spAutoFit/>
          </a:bodyPr>
          <a:lstStyle/>
          <a:p>
            <a:pPr>
              <a:spcAft>
                <a:spcPts val="400"/>
              </a:spcAft>
              <a:defRPr sz="1300" b="0">
                <a:solidFill>
                  <a:srgbClr val="233041"/>
                </a:solidFill>
                <a:latin typeface="Aptos"/>
              </a:defRPr>
            </a:pPr>
            <a:r>
              <a:t>Mạnh: Có thể học chiến lược</a:t>
            </a:r>
          </a:p>
          <a:p>
            <a:pPr>
              <a:spcAft>
                <a:spcPts val="400"/>
              </a:spcAft>
              <a:defRPr sz="1300" b="0">
                <a:solidFill>
                  <a:srgbClr val="233041"/>
                </a:solidFill>
                <a:latin typeface="Aptos"/>
              </a:defRPr>
            </a:pPr>
            <a:r>
              <a:t>Hạn chế: Tốn dữ liệu, huấn luyện</a:t>
            </a:r>
          </a:p>
        </p:txBody>
      </p:sp>
      <p:sp>
        <p:nvSpPr>
          <p:cNvPr id="21" name="TextBox 20"/>
          <p:cNvSpPr txBox="1"/>
          <p:nvPr/>
        </p:nvSpPr>
        <p:spPr>
          <a:xfrm>
            <a:off x="822960" y="4069080"/>
            <a:ext cx="10332720" cy="822960"/>
          </a:xfrm>
          <a:prstGeom prst="rect">
            <a:avLst/>
          </a:prstGeom>
          <a:noFill/>
        </p:spPr>
        <p:txBody>
          <a:bodyPr wrap="none" lIns="54864" tIns="54864" rIns="54864" bIns="54864" anchor="ctr">
            <a:spAutoFit/>
          </a:bodyPr>
          <a:lstStyle/>
          <a:p>
            <a:pPr>
              <a:spcAft>
                <a:spcPts val="400"/>
              </a:spcAft>
              <a:defRPr sz="1900" b="1">
                <a:solidFill>
                  <a:srgbClr val="0F2341"/>
                </a:solidFill>
                <a:latin typeface="Aptos"/>
              </a:defRPr>
            </a:pPr>
            <a:r>
              <a:t>Lựa chọn: Kociemba — cân bằng tốt giữa tốc độ, độ dài lời giải và khả năng tích hợp.</a:t>
            </a:r>
          </a:p>
        </p:txBody>
      </p:sp>
      <p:sp>
        <p:nvSpPr>
          <p:cNvPr id="22" name="TextBox 21"/>
          <p:cNvSpPr txBox="1"/>
          <p:nvPr/>
        </p:nvSpPr>
        <p:spPr>
          <a:xfrm>
            <a:off x="822960" y="5074920"/>
            <a:ext cx="10332720" cy="640080"/>
          </a:xfrm>
          <a:prstGeom prst="rect">
            <a:avLst/>
          </a:prstGeom>
          <a:noFill/>
        </p:spPr>
        <p:txBody>
          <a:bodyPr wrap="none" lIns="54864" tIns="54864" rIns="54864" bIns="54864" anchor="ctr">
            <a:spAutoFit/>
          </a:bodyPr>
          <a:lstStyle/>
          <a:p>
            <a:pPr>
              <a:spcAft>
                <a:spcPts val="400"/>
              </a:spcAft>
              <a:defRPr sz="1500" b="0">
                <a:solidFill>
                  <a:srgbClr val="5F6E80"/>
                </a:solidFill>
                <a:latin typeface="Aptos"/>
              </a:defRPr>
            </a:pPr>
            <a:r>
              <a:t>Khoảng trống: đồng bộ trạng thái logic, thao tác 3D và animation trong một ứng dụng học tập.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Ý tưởng tổng quát và kiến trúc hệ thống</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09</a:t>
            </a:r>
          </a:p>
        </p:txBody>
      </p:sp>
      <p:sp>
        <p:nvSpPr>
          <p:cNvPr id="5" name="Rounded Rectangle 4"/>
          <p:cNvSpPr/>
          <p:nvPr/>
        </p:nvSpPr>
        <p:spPr>
          <a:xfrm>
            <a:off x="457200" y="2011680"/>
            <a:ext cx="2057400" cy="13716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011680"/>
            <a:ext cx="73152" cy="137160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2130552"/>
            <a:ext cx="1737360" cy="365760"/>
          </a:xfrm>
          <a:prstGeom prst="rect">
            <a:avLst/>
          </a:prstGeom>
          <a:noFill/>
        </p:spPr>
        <p:txBody>
          <a:bodyPr wrap="none" lIns="54864" tIns="54864" rIns="54864" bIns="54864" anchor="ctr">
            <a:spAutoFit/>
          </a:bodyPr>
          <a:lstStyle/>
          <a:p>
            <a:pPr>
              <a:spcAft>
                <a:spcPts val="400"/>
              </a:spcAft>
              <a:defRPr sz="1500" b="1">
                <a:solidFill>
                  <a:srgbClr val="0F2341"/>
                </a:solidFill>
                <a:latin typeface="Aptos"/>
              </a:defRPr>
            </a:pPr>
            <a:r>
              <a:t>Người dùng</a:t>
            </a:r>
          </a:p>
        </p:txBody>
      </p:sp>
      <p:sp>
        <p:nvSpPr>
          <p:cNvPr id="8" name="TextBox 7"/>
          <p:cNvSpPr txBox="1"/>
          <p:nvPr/>
        </p:nvSpPr>
        <p:spPr>
          <a:xfrm>
            <a:off x="658368" y="2542032"/>
            <a:ext cx="1709928" cy="749808"/>
          </a:xfrm>
          <a:prstGeom prst="rect">
            <a:avLst/>
          </a:prstGeom>
          <a:noFill/>
        </p:spPr>
        <p:txBody>
          <a:bodyPr wrap="none" lIns="54864" tIns="54864" rIns="54864" bIns="54864" anchor="t">
            <a:spAutoFit/>
          </a:bodyPr>
          <a:lstStyle/>
          <a:p>
            <a:pPr>
              <a:spcAft>
                <a:spcPts val="400"/>
              </a:spcAft>
              <a:defRPr sz="1200" b="0">
                <a:solidFill>
                  <a:srgbClr val="233041"/>
                </a:solidFill>
                <a:latin typeface="Aptos"/>
              </a:defRPr>
            </a:pPr>
            <a:r>
              <a:t>Thao tác / xáo trộn</a:t>
            </a:r>
          </a:p>
        </p:txBody>
      </p:sp>
      <p:sp>
        <p:nvSpPr>
          <p:cNvPr id="9" name="Chevron 8"/>
          <p:cNvSpPr/>
          <p:nvPr/>
        </p:nvSpPr>
        <p:spPr>
          <a:xfrm>
            <a:off x="2542032" y="2487168"/>
            <a:ext cx="228600" cy="320040"/>
          </a:xfrm>
          <a:prstGeom prst="chevron">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816352" y="2011680"/>
            <a:ext cx="2057400" cy="13716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816352" y="2011680"/>
            <a:ext cx="73152" cy="1371600"/>
          </a:xfrm>
          <a:prstGeom prst="rect">
            <a:avLst/>
          </a:prstGeom>
          <a:solidFill>
            <a:srgbClr val="37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17520" y="2130552"/>
            <a:ext cx="1737360" cy="365760"/>
          </a:xfrm>
          <a:prstGeom prst="rect">
            <a:avLst/>
          </a:prstGeom>
          <a:noFill/>
        </p:spPr>
        <p:txBody>
          <a:bodyPr wrap="none" lIns="54864" tIns="54864" rIns="54864" bIns="54864" anchor="ctr">
            <a:spAutoFit/>
          </a:bodyPr>
          <a:lstStyle/>
          <a:p>
            <a:pPr>
              <a:spcAft>
                <a:spcPts val="400"/>
              </a:spcAft>
              <a:defRPr sz="1500" b="1">
                <a:solidFill>
                  <a:srgbClr val="0F2341"/>
                </a:solidFill>
                <a:latin typeface="Aptos"/>
              </a:defRPr>
            </a:pPr>
            <a:r>
              <a:t>Mô hình 3D</a:t>
            </a:r>
          </a:p>
        </p:txBody>
      </p:sp>
      <p:sp>
        <p:nvSpPr>
          <p:cNvPr id="13" name="TextBox 12"/>
          <p:cNvSpPr txBox="1"/>
          <p:nvPr/>
        </p:nvSpPr>
        <p:spPr>
          <a:xfrm>
            <a:off x="3017520" y="2542032"/>
            <a:ext cx="1709928" cy="749808"/>
          </a:xfrm>
          <a:prstGeom prst="rect">
            <a:avLst/>
          </a:prstGeom>
          <a:noFill/>
        </p:spPr>
        <p:txBody>
          <a:bodyPr wrap="none" lIns="54864" tIns="54864" rIns="54864" bIns="54864" anchor="t">
            <a:spAutoFit/>
          </a:bodyPr>
          <a:lstStyle/>
          <a:p>
            <a:pPr>
              <a:spcAft>
                <a:spcPts val="400"/>
              </a:spcAft>
              <a:defRPr sz="1200" b="0">
                <a:solidFill>
                  <a:srgbClr val="233041"/>
                </a:solidFill>
                <a:latin typeface="Aptos"/>
              </a:defRPr>
            </a:pPr>
            <a:r>
              <a:t>reset_positions()</a:t>
            </a:r>
          </a:p>
        </p:txBody>
      </p:sp>
      <p:sp>
        <p:nvSpPr>
          <p:cNvPr id="14" name="Chevron 13"/>
          <p:cNvSpPr/>
          <p:nvPr/>
        </p:nvSpPr>
        <p:spPr>
          <a:xfrm>
            <a:off x="4901183" y="2487168"/>
            <a:ext cx="228600" cy="320040"/>
          </a:xfrm>
          <a:prstGeom prst="chevron">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175504" y="2011680"/>
            <a:ext cx="2057400" cy="13716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175504" y="2011680"/>
            <a:ext cx="73152" cy="137160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76672" y="2130552"/>
            <a:ext cx="1737360" cy="365760"/>
          </a:xfrm>
          <a:prstGeom prst="rect">
            <a:avLst/>
          </a:prstGeom>
          <a:noFill/>
        </p:spPr>
        <p:txBody>
          <a:bodyPr wrap="none" lIns="54864" tIns="54864" rIns="54864" bIns="54864" anchor="ctr">
            <a:spAutoFit/>
          </a:bodyPr>
          <a:lstStyle/>
          <a:p>
            <a:pPr>
              <a:spcAft>
                <a:spcPts val="400"/>
              </a:spcAft>
              <a:defRPr sz="1500" b="1">
                <a:solidFill>
                  <a:srgbClr val="0F2341"/>
                </a:solidFill>
                <a:latin typeface="Aptos"/>
              </a:defRPr>
            </a:pPr>
            <a:r>
              <a:t>Giải mã</a:t>
            </a:r>
          </a:p>
        </p:txBody>
      </p:sp>
      <p:sp>
        <p:nvSpPr>
          <p:cNvPr id="18" name="TextBox 17"/>
          <p:cNvSpPr txBox="1"/>
          <p:nvPr/>
        </p:nvSpPr>
        <p:spPr>
          <a:xfrm>
            <a:off x="5376672" y="2542032"/>
            <a:ext cx="1709928" cy="749808"/>
          </a:xfrm>
          <a:prstGeom prst="rect">
            <a:avLst/>
          </a:prstGeom>
          <a:noFill/>
        </p:spPr>
        <p:txBody>
          <a:bodyPr wrap="none" lIns="54864" tIns="54864" rIns="54864" bIns="54864" anchor="t">
            <a:spAutoFit/>
          </a:bodyPr>
          <a:lstStyle/>
          <a:p>
            <a:pPr>
              <a:spcAft>
                <a:spcPts val="400"/>
              </a:spcAft>
              <a:defRPr sz="1200" b="0">
                <a:solidFill>
                  <a:srgbClr val="233041"/>
                </a:solidFill>
                <a:latin typeface="Aptos"/>
              </a:defRPr>
            </a:pPr>
            <a:r>
              <a:t>decode_position()</a:t>
            </a:r>
          </a:p>
        </p:txBody>
      </p:sp>
      <p:sp>
        <p:nvSpPr>
          <p:cNvPr id="19" name="Chevron 18"/>
          <p:cNvSpPr/>
          <p:nvPr/>
        </p:nvSpPr>
        <p:spPr>
          <a:xfrm>
            <a:off x="7260336" y="2487168"/>
            <a:ext cx="228600" cy="320040"/>
          </a:xfrm>
          <a:prstGeom prst="chevron">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534656" y="2011680"/>
            <a:ext cx="2057400" cy="13716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534656" y="2011680"/>
            <a:ext cx="73152" cy="1371600"/>
          </a:xfrm>
          <a:prstGeom prst="rect">
            <a:avLst/>
          </a:prstGeom>
          <a:solidFill>
            <a:srgbClr val="183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35824" y="2130552"/>
            <a:ext cx="1737360" cy="365760"/>
          </a:xfrm>
          <a:prstGeom prst="rect">
            <a:avLst/>
          </a:prstGeom>
          <a:noFill/>
        </p:spPr>
        <p:txBody>
          <a:bodyPr wrap="none" lIns="54864" tIns="54864" rIns="54864" bIns="54864" anchor="ctr">
            <a:spAutoFit/>
          </a:bodyPr>
          <a:lstStyle/>
          <a:p>
            <a:pPr>
              <a:spcAft>
                <a:spcPts val="400"/>
              </a:spcAft>
              <a:defRPr sz="1500" b="1">
                <a:solidFill>
                  <a:srgbClr val="0F2341"/>
                </a:solidFill>
                <a:latin typeface="Aptos"/>
              </a:defRPr>
            </a:pPr>
            <a:r>
              <a:t>Kociemba</a:t>
            </a:r>
          </a:p>
        </p:txBody>
      </p:sp>
      <p:sp>
        <p:nvSpPr>
          <p:cNvPr id="23" name="TextBox 22"/>
          <p:cNvSpPr txBox="1"/>
          <p:nvPr/>
        </p:nvSpPr>
        <p:spPr>
          <a:xfrm>
            <a:off x="7735824" y="2542032"/>
            <a:ext cx="1709928" cy="749808"/>
          </a:xfrm>
          <a:prstGeom prst="rect">
            <a:avLst/>
          </a:prstGeom>
          <a:noFill/>
        </p:spPr>
        <p:txBody>
          <a:bodyPr wrap="none" lIns="54864" tIns="54864" rIns="54864" bIns="54864" anchor="t">
            <a:spAutoFit/>
          </a:bodyPr>
          <a:lstStyle/>
          <a:p>
            <a:pPr>
              <a:spcAft>
                <a:spcPts val="400"/>
              </a:spcAft>
              <a:defRPr sz="1200" b="0">
                <a:solidFill>
                  <a:srgbClr val="233041"/>
                </a:solidFill>
                <a:latin typeface="Aptos"/>
              </a:defRPr>
            </a:pPr>
            <a:r>
              <a:t>Solver</a:t>
            </a:r>
          </a:p>
        </p:txBody>
      </p:sp>
      <p:sp>
        <p:nvSpPr>
          <p:cNvPr id="24" name="Chevron 23"/>
          <p:cNvSpPr/>
          <p:nvPr/>
        </p:nvSpPr>
        <p:spPr>
          <a:xfrm>
            <a:off x="9619488" y="2487168"/>
            <a:ext cx="228600" cy="320040"/>
          </a:xfrm>
          <a:prstGeom prst="chevron">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893808" y="2011680"/>
            <a:ext cx="2057400" cy="13716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893808" y="2011680"/>
            <a:ext cx="73152" cy="1371600"/>
          </a:xfrm>
          <a:prstGeom prst="rect">
            <a:avLst/>
          </a:prstGeom>
          <a:solidFill>
            <a:srgbClr val="419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94976" y="2130552"/>
            <a:ext cx="1737360" cy="365760"/>
          </a:xfrm>
          <a:prstGeom prst="rect">
            <a:avLst/>
          </a:prstGeom>
          <a:noFill/>
        </p:spPr>
        <p:txBody>
          <a:bodyPr wrap="none" lIns="54864" tIns="54864" rIns="54864" bIns="54864" anchor="ctr">
            <a:spAutoFit/>
          </a:bodyPr>
          <a:lstStyle/>
          <a:p>
            <a:pPr>
              <a:spcAft>
                <a:spcPts val="400"/>
              </a:spcAft>
              <a:defRPr sz="1500" b="1">
                <a:solidFill>
                  <a:srgbClr val="0F2341"/>
                </a:solidFill>
                <a:latin typeface="Aptos"/>
              </a:defRPr>
            </a:pPr>
            <a:r>
              <a:t>Thực thi</a:t>
            </a:r>
          </a:p>
        </p:txBody>
      </p:sp>
      <p:sp>
        <p:nvSpPr>
          <p:cNvPr id="28" name="TextBox 27"/>
          <p:cNvSpPr txBox="1"/>
          <p:nvPr/>
        </p:nvSpPr>
        <p:spPr>
          <a:xfrm>
            <a:off x="10094976" y="2542032"/>
            <a:ext cx="1709928" cy="749808"/>
          </a:xfrm>
          <a:prstGeom prst="rect">
            <a:avLst/>
          </a:prstGeom>
          <a:noFill/>
        </p:spPr>
        <p:txBody>
          <a:bodyPr wrap="none" lIns="54864" tIns="54864" rIns="54864" bIns="54864" anchor="t">
            <a:spAutoFit/>
          </a:bodyPr>
          <a:lstStyle/>
          <a:p>
            <a:pPr>
              <a:spcAft>
                <a:spcPts val="400"/>
              </a:spcAft>
              <a:defRPr sz="1200" b="0">
                <a:solidFill>
                  <a:srgbClr val="233041"/>
                </a:solidFill>
                <a:latin typeface="Aptos"/>
              </a:defRPr>
            </a:pPr>
            <a:r>
              <a:t>moves → animations() + move()</a:t>
            </a:r>
          </a:p>
        </p:txBody>
      </p:sp>
      <p:sp>
        <p:nvSpPr>
          <p:cNvPr id="29" name="TextBox 28"/>
          <p:cNvSpPr txBox="1"/>
          <p:nvPr/>
        </p:nvSpPr>
        <p:spPr>
          <a:xfrm>
            <a:off x="1097280" y="4160520"/>
            <a:ext cx="9875520" cy="548640"/>
          </a:xfrm>
          <a:prstGeom prst="rect">
            <a:avLst/>
          </a:prstGeom>
          <a:noFill/>
        </p:spPr>
        <p:txBody>
          <a:bodyPr wrap="none" lIns="54864" tIns="54864" rIns="54864" bIns="54864" anchor="ctr">
            <a:spAutoFit/>
          </a:bodyPr>
          <a:lstStyle/>
          <a:p>
            <a:pPr algn="ctr">
              <a:spcAft>
                <a:spcPts val="400"/>
              </a:spcAft>
              <a:defRPr sz="1800" b="1">
                <a:solidFill>
                  <a:srgbClr val="0F2341"/>
                </a:solidFill>
                <a:latin typeface="Aptos"/>
              </a:defRPr>
            </a:pPr>
            <a:r>
              <a:t>Kết quả: Rubik đã giải, hình ảnh và trạng thái logic đồng bộ</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Thuật toán Kociemba hai pha</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10</a:t>
            </a:r>
          </a:p>
        </p:txBody>
      </p:sp>
      <p:sp>
        <p:nvSpPr>
          <p:cNvPr id="5" name="TextBox 4"/>
          <p:cNvSpPr txBox="1"/>
          <p:nvPr/>
        </p:nvSpPr>
        <p:spPr>
          <a:xfrm>
            <a:off x="777240" y="1234440"/>
            <a:ext cx="5486400" cy="4480560"/>
          </a:xfrm>
          <a:prstGeom prst="rect">
            <a:avLst/>
          </a:prstGeom>
          <a:noFill/>
        </p:spPr>
        <p:txBody>
          <a:bodyPr wrap="none" lIns="36576" rIns="45720" bIns="18288">
            <a:spAutoFit/>
          </a:bodyPr>
          <a:lstStyle/>
          <a:p>
            <a:pPr>
              <a:buChar char="•"/>
              <a:defRPr sz="2000">
                <a:solidFill>
                  <a:srgbClr val="233041"/>
                </a:solidFill>
                <a:latin typeface="Aptos"/>
              </a:defRPr>
            </a:pPr>
            <a:r>
              <a:t>Pha 1: đưa trạng thái về nhóm con G₁</a:t>
            </a:r>
          </a:p>
          <a:p>
            <a:pPr>
              <a:buChar char="•"/>
              <a:defRPr sz="2000">
                <a:solidFill>
                  <a:srgbClr val="233041"/>
                </a:solidFill>
                <a:latin typeface="Aptos"/>
              </a:defRPr>
            </a:pPr>
            <a:r>
              <a:t>Pha 1 dùng U, D, R², L², F², B²</a:t>
            </a:r>
          </a:p>
          <a:p>
            <a:pPr>
              <a:buChar char="•"/>
              <a:defRPr sz="2000">
                <a:solidFill>
                  <a:srgbClr val="233041"/>
                </a:solidFill>
                <a:latin typeface="Aptos"/>
              </a:defRPr>
            </a:pPr>
            <a:r>
              <a:t>Pha 2: giải hoàn toàn từ G₁</a:t>
            </a:r>
          </a:p>
          <a:p>
            <a:pPr>
              <a:buChar char="•"/>
              <a:defRPr sz="2000">
                <a:solidFill>
                  <a:srgbClr val="233041"/>
                </a:solidFill>
                <a:latin typeface="Aptos"/>
              </a:defRPr>
            </a:pPr>
            <a:r>
              <a:t>IDA* kết hợp bảng tra cứu để định hướng tìm kiếm</a:t>
            </a:r>
          </a:p>
          <a:p>
            <a:pPr>
              <a:buChar char="•"/>
              <a:defRPr sz="2000">
                <a:solidFill>
                  <a:srgbClr val="233041"/>
                </a:solidFill>
                <a:latin typeface="Aptos"/>
              </a:defRPr>
            </a:pPr>
            <a:r>
              <a:t>Thực nghiệm hướng tới lời giải khoảng 20–24 bước</a:t>
            </a:r>
          </a:p>
        </p:txBody>
      </p:sp>
      <p:sp>
        <p:nvSpPr>
          <p:cNvPr id="6" name="Rounded Rectangle 5"/>
          <p:cNvSpPr/>
          <p:nvPr/>
        </p:nvSpPr>
        <p:spPr>
          <a:xfrm>
            <a:off x="6858000" y="1463040"/>
            <a:ext cx="4114800" cy="132588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0" y="1463040"/>
            <a:ext cx="73152" cy="132588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59168" y="1581912"/>
            <a:ext cx="3794760"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PHA 1</a:t>
            </a:r>
          </a:p>
        </p:txBody>
      </p:sp>
      <p:sp>
        <p:nvSpPr>
          <p:cNvPr id="9" name="TextBox 8"/>
          <p:cNvSpPr txBox="1"/>
          <p:nvPr/>
        </p:nvSpPr>
        <p:spPr>
          <a:xfrm>
            <a:off x="7059168" y="1993392"/>
            <a:ext cx="3767328" cy="704087"/>
          </a:xfrm>
          <a:prstGeom prst="rect">
            <a:avLst/>
          </a:prstGeom>
          <a:noFill/>
        </p:spPr>
        <p:txBody>
          <a:bodyPr wrap="none" lIns="54864" tIns="54864" rIns="54864" bIns="54864" anchor="t">
            <a:spAutoFit/>
          </a:bodyPr>
          <a:lstStyle/>
          <a:p>
            <a:pPr>
              <a:spcAft>
                <a:spcPts val="400"/>
              </a:spcAft>
              <a:defRPr sz="1500" b="0">
                <a:solidFill>
                  <a:srgbClr val="233041"/>
                </a:solidFill>
                <a:latin typeface="Aptos"/>
              </a:defRPr>
            </a:pPr>
            <a:r>
              <a:t>Từ trạng thái bất kỳ → G₁</a:t>
            </a:r>
          </a:p>
        </p:txBody>
      </p:sp>
      <p:sp>
        <p:nvSpPr>
          <p:cNvPr id="10" name="Rounded Rectangle 9"/>
          <p:cNvSpPr/>
          <p:nvPr/>
        </p:nvSpPr>
        <p:spPr>
          <a:xfrm>
            <a:off x="6858000" y="3154680"/>
            <a:ext cx="4114800" cy="132588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0" y="3154680"/>
            <a:ext cx="73152" cy="132588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59168" y="3273552"/>
            <a:ext cx="3794760" cy="365760"/>
          </a:xfrm>
          <a:prstGeom prst="rect">
            <a:avLst/>
          </a:prstGeom>
          <a:noFill/>
        </p:spPr>
        <p:txBody>
          <a:bodyPr wrap="none" lIns="54864" tIns="54864" rIns="54864" bIns="54864" anchor="ctr">
            <a:spAutoFit/>
          </a:bodyPr>
          <a:lstStyle/>
          <a:p>
            <a:pPr>
              <a:spcAft>
                <a:spcPts val="400"/>
              </a:spcAft>
              <a:defRPr sz="1800" b="1">
                <a:solidFill>
                  <a:srgbClr val="0F2341"/>
                </a:solidFill>
                <a:latin typeface="Aptos"/>
              </a:defRPr>
            </a:pPr>
            <a:r>
              <a:t>PHA 2</a:t>
            </a:r>
          </a:p>
        </p:txBody>
      </p:sp>
      <p:sp>
        <p:nvSpPr>
          <p:cNvPr id="13" name="TextBox 12"/>
          <p:cNvSpPr txBox="1"/>
          <p:nvPr/>
        </p:nvSpPr>
        <p:spPr>
          <a:xfrm>
            <a:off x="7059168" y="3685032"/>
            <a:ext cx="3767328" cy="704087"/>
          </a:xfrm>
          <a:prstGeom prst="rect">
            <a:avLst/>
          </a:prstGeom>
          <a:noFill/>
        </p:spPr>
        <p:txBody>
          <a:bodyPr wrap="none" lIns="54864" tIns="54864" rIns="54864" bIns="54864" anchor="t">
            <a:spAutoFit/>
          </a:bodyPr>
          <a:lstStyle/>
          <a:p>
            <a:pPr>
              <a:spcAft>
                <a:spcPts val="400"/>
              </a:spcAft>
              <a:defRPr sz="1500" b="0">
                <a:solidFill>
                  <a:srgbClr val="233041"/>
                </a:solidFill>
                <a:latin typeface="Aptos"/>
              </a:defRPr>
            </a:pPr>
            <a:r>
              <a:t>Từ G₁ → trạng thái hoàn tất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Chi tiết cài đặt</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11</a:t>
            </a:r>
          </a:p>
        </p:txBody>
      </p:sp>
      <p:sp>
        <p:nvSpPr>
          <p:cNvPr id="5" name="TextBox 4"/>
          <p:cNvSpPr txBox="1"/>
          <p:nvPr/>
        </p:nvSpPr>
        <p:spPr>
          <a:xfrm>
            <a:off x="777240" y="1234440"/>
            <a:ext cx="5486400" cy="4480560"/>
          </a:xfrm>
          <a:prstGeom prst="rect">
            <a:avLst/>
          </a:prstGeom>
          <a:noFill/>
        </p:spPr>
        <p:txBody>
          <a:bodyPr wrap="none" lIns="36576" rIns="45720" bIns="18288">
            <a:spAutoFit/>
          </a:bodyPr>
          <a:lstStyle/>
          <a:p>
            <a:pPr>
              <a:buChar char="•"/>
              <a:defRPr sz="2000">
                <a:solidFill>
                  <a:srgbClr val="233041"/>
                </a:solidFill>
                <a:latin typeface="Aptos"/>
              </a:defRPr>
            </a:pPr>
            <a:r>
              <a:t>Rubic_Cube: reset_positions, animations, move</a:t>
            </a:r>
          </a:p>
          <a:p>
            <a:pPr>
              <a:buChar char="•"/>
              <a:defRPr sz="2000">
                <a:solidFill>
                  <a:srgbClr val="233041"/>
                </a:solidFill>
                <a:latin typeface="Aptos"/>
              </a:defRPr>
            </a:pPr>
            <a:r>
              <a:t>scramble() tạo trạng thái; solve() gọi bộ giải</a:t>
            </a:r>
          </a:p>
          <a:p>
            <a:pPr>
              <a:buChar char="•"/>
              <a:defRPr sz="2000">
                <a:solidFill>
                  <a:srgbClr val="233041"/>
                </a:solidFill>
                <a:latin typeface="Aptos"/>
              </a:defRPr>
            </a:pPr>
            <a:r>
              <a:t>decode_position(): proximity + color_detect</a:t>
            </a:r>
          </a:p>
          <a:p>
            <a:pPr>
              <a:buChar char="•"/>
              <a:defRPr sz="2000">
                <a:solidFill>
                  <a:srgbClr val="233041"/>
                </a:solidFill>
                <a:latin typeface="Aptos"/>
              </a:defRPr>
            </a:pPr>
            <a:r>
              <a:t>Góc quay mỗi bước: dA = π/40 rad</a:t>
            </a:r>
          </a:p>
          <a:p>
            <a:pPr>
              <a:buChar char="•"/>
              <a:defRPr sz="2000">
                <a:solidFill>
                  <a:srgbClr val="233041"/>
                </a:solidFill>
                <a:latin typeface="Aptos"/>
              </a:defRPr>
            </a:pPr>
            <a:r>
              <a:t>Mục tiêu hiển thị: khoảng 60 FPS</a:t>
            </a:r>
          </a:p>
        </p:txBody>
      </p:sp>
      <p:sp>
        <p:nvSpPr>
          <p:cNvPr id="6" name="Rounded Rectangle 5"/>
          <p:cNvSpPr/>
          <p:nvPr/>
        </p:nvSpPr>
        <p:spPr>
          <a:xfrm>
            <a:off x="6492240" y="1417320"/>
            <a:ext cx="4572000" cy="11430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92240" y="1417320"/>
            <a:ext cx="73152" cy="1143000"/>
          </a:xfrm>
          <a:prstGeom prst="rect">
            <a:avLst/>
          </a:prstGeom>
          <a:solidFill>
            <a:srgbClr val="37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93407" y="1536192"/>
            <a:ext cx="425196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Logic</a:t>
            </a:r>
          </a:p>
        </p:txBody>
      </p:sp>
      <p:sp>
        <p:nvSpPr>
          <p:cNvPr id="9" name="TextBox 8"/>
          <p:cNvSpPr txBox="1"/>
          <p:nvPr/>
        </p:nvSpPr>
        <p:spPr>
          <a:xfrm>
            <a:off x="6693407" y="1947672"/>
            <a:ext cx="4224528" cy="52120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Trạng thái + phép quay</a:t>
            </a:r>
          </a:p>
        </p:txBody>
      </p:sp>
      <p:sp>
        <p:nvSpPr>
          <p:cNvPr id="10" name="Rounded Rectangle 9"/>
          <p:cNvSpPr/>
          <p:nvPr/>
        </p:nvSpPr>
        <p:spPr>
          <a:xfrm>
            <a:off x="6492240" y="2788920"/>
            <a:ext cx="4572000" cy="11430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92240" y="2788920"/>
            <a:ext cx="73152" cy="114300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93407" y="2907791"/>
            <a:ext cx="425196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Đồ họa</a:t>
            </a:r>
          </a:p>
        </p:txBody>
      </p:sp>
      <p:sp>
        <p:nvSpPr>
          <p:cNvPr id="13" name="TextBox 12"/>
          <p:cNvSpPr txBox="1"/>
          <p:nvPr/>
        </p:nvSpPr>
        <p:spPr>
          <a:xfrm>
            <a:off x="6693407" y="3319272"/>
            <a:ext cx="4224528" cy="52120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VPython + animation</a:t>
            </a:r>
          </a:p>
        </p:txBody>
      </p:sp>
      <p:sp>
        <p:nvSpPr>
          <p:cNvPr id="14" name="Rounded Rectangle 13"/>
          <p:cNvSpPr/>
          <p:nvPr/>
        </p:nvSpPr>
        <p:spPr>
          <a:xfrm>
            <a:off x="6492240" y="4160520"/>
            <a:ext cx="4572000" cy="114300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92240" y="4160520"/>
            <a:ext cx="73152" cy="114300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3407" y="4279392"/>
            <a:ext cx="425196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Tích hợp</a:t>
            </a:r>
          </a:p>
        </p:txBody>
      </p:sp>
      <p:sp>
        <p:nvSpPr>
          <p:cNvPr id="17" name="TextBox 16"/>
          <p:cNvSpPr txBox="1"/>
          <p:nvPr/>
        </p:nvSpPr>
        <p:spPr>
          <a:xfrm>
            <a:off x="6693407" y="4690872"/>
            <a:ext cx="4224528" cy="52120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Đồng bộ logic và hiển thị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Độ phức tạp và tính đúng đắn</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12</a:t>
            </a:r>
          </a:p>
        </p:txBody>
      </p:sp>
      <p:sp>
        <p:nvSpPr>
          <p:cNvPr id="5" name="TextBox 4"/>
          <p:cNvSpPr txBox="1"/>
          <p:nvPr/>
        </p:nvSpPr>
        <p:spPr>
          <a:xfrm>
            <a:off x="777240" y="1234440"/>
            <a:ext cx="5486400" cy="4480560"/>
          </a:xfrm>
          <a:prstGeom prst="rect">
            <a:avLst/>
          </a:prstGeom>
          <a:noFill/>
        </p:spPr>
        <p:txBody>
          <a:bodyPr wrap="none" lIns="36576" rIns="45720" bIns="18288">
            <a:spAutoFit/>
          </a:bodyPr>
          <a:lstStyle/>
          <a:p>
            <a:pPr>
              <a:buChar char="•"/>
              <a:defRPr sz="2000">
                <a:solidFill>
                  <a:srgbClr val="233041"/>
                </a:solidFill>
                <a:latin typeface="Aptos"/>
              </a:defRPr>
            </a:pPr>
            <a:r>
              <a:t>Giải mã 54 ô: O(54) = O(1) với kích thước cố định</a:t>
            </a:r>
          </a:p>
          <a:p>
            <a:pPr>
              <a:buChar char="•"/>
              <a:defRPr sz="2000">
                <a:solidFill>
                  <a:srgbClr val="233041"/>
                </a:solidFill>
                <a:latin typeface="Aptos"/>
              </a:defRPr>
            </a:pPr>
            <a:r>
              <a:t>Animation: O(k·s), với k bước và s khung mỗi bước</a:t>
            </a:r>
          </a:p>
          <a:p>
            <a:pPr>
              <a:buChar char="•"/>
              <a:defRPr sz="2000">
                <a:solidFill>
                  <a:srgbClr val="233041"/>
                </a:solidFill>
                <a:latin typeface="Aptos"/>
              </a:defRPr>
            </a:pPr>
            <a:r>
              <a:t>Bộ nhớ phụ trợ: O(1), không tính bảng tra cứu</a:t>
            </a:r>
          </a:p>
          <a:p>
            <a:pPr>
              <a:buChar char="•"/>
              <a:defRPr sz="2000">
                <a:solidFill>
                  <a:srgbClr val="233041"/>
                </a:solidFill>
                <a:latin typeface="Aptos"/>
              </a:defRPr>
            </a:pPr>
            <a:r>
              <a:t>Đúng 1: giải mã khớp cấu hình Rubik</a:t>
            </a:r>
          </a:p>
          <a:p>
            <a:pPr>
              <a:buChar char="•"/>
              <a:defRPr sz="2000">
                <a:solidFill>
                  <a:srgbClr val="233041"/>
                </a:solidFill>
                <a:latin typeface="Aptos"/>
              </a:defRPr>
            </a:pPr>
            <a:r>
              <a:t>Đúng 2–3: bộ giải hợp lệ; phép quay bảo toàn trạng thái</a:t>
            </a:r>
          </a:p>
        </p:txBody>
      </p:sp>
      <p:sp>
        <p:nvSpPr>
          <p:cNvPr id="6" name="Rounded Rectangle 5"/>
          <p:cNvSpPr/>
          <p:nvPr/>
        </p:nvSpPr>
        <p:spPr>
          <a:xfrm>
            <a:off x="6675120" y="1325880"/>
            <a:ext cx="4389120" cy="100584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675120" y="1325880"/>
            <a:ext cx="73152" cy="1005840"/>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76288" y="1444752"/>
            <a:ext cx="406908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Độ phức tạp</a:t>
            </a:r>
          </a:p>
        </p:txBody>
      </p:sp>
      <p:sp>
        <p:nvSpPr>
          <p:cNvPr id="9" name="TextBox 8"/>
          <p:cNvSpPr txBox="1"/>
          <p:nvPr/>
        </p:nvSpPr>
        <p:spPr>
          <a:xfrm>
            <a:off x="6876288" y="1856231"/>
            <a:ext cx="4041648" cy="384048"/>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Decode: O(1) thực tế</a:t>
            </a:r>
          </a:p>
        </p:txBody>
      </p:sp>
      <p:sp>
        <p:nvSpPr>
          <p:cNvPr id="10" name="Rounded Rectangle 9"/>
          <p:cNvSpPr/>
          <p:nvPr/>
        </p:nvSpPr>
        <p:spPr>
          <a:xfrm>
            <a:off x="6675120" y="2560320"/>
            <a:ext cx="4389120" cy="100584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675120" y="2560320"/>
            <a:ext cx="73152" cy="1005840"/>
          </a:xfrm>
          <a:prstGeom prst="rect">
            <a:avLst/>
          </a:prstGeom>
          <a:solidFill>
            <a:srgbClr val="37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76288" y="2679191"/>
            <a:ext cx="406908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Animation</a:t>
            </a:r>
          </a:p>
        </p:txBody>
      </p:sp>
      <p:sp>
        <p:nvSpPr>
          <p:cNvPr id="13" name="TextBox 12"/>
          <p:cNvSpPr txBox="1"/>
          <p:nvPr/>
        </p:nvSpPr>
        <p:spPr>
          <a:xfrm>
            <a:off x="6876288" y="3090672"/>
            <a:ext cx="4041648" cy="384048"/>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O(k·s)</a:t>
            </a:r>
          </a:p>
        </p:txBody>
      </p:sp>
      <p:sp>
        <p:nvSpPr>
          <p:cNvPr id="14" name="Rounded Rectangle 13"/>
          <p:cNvSpPr/>
          <p:nvPr/>
        </p:nvSpPr>
        <p:spPr>
          <a:xfrm>
            <a:off x="6675120" y="3794760"/>
            <a:ext cx="4389120" cy="1005840"/>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75120" y="3794760"/>
            <a:ext cx="73152" cy="1005840"/>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76288" y="3913632"/>
            <a:ext cx="4069080"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Tính đúng đắn</a:t>
            </a:r>
          </a:p>
        </p:txBody>
      </p:sp>
      <p:sp>
        <p:nvSpPr>
          <p:cNvPr id="17" name="TextBox 16"/>
          <p:cNvSpPr txBox="1"/>
          <p:nvPr/>
        </p:nvSpPr>
        <p:spPr>
          <a:xfrm>
            <a:off x="6876288" y="4325112"/>
            <a:ext cx="4041648" cy="384048"/>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3 lớp cần kiểm chứng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Kết quả thực nghiệm</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13</a:t>
            </a:r>
          </a:p>
        </p:txBody>
      </p:sp>
      <p:sp>
        <p:nvSpPr>
          <p:cNvPr id="5" name="TextBox 4"/>
          <p:cNvSpPr txBox="1"/>
          <p:nvPr/>
        </p:nvSpPr>
        <p:spPr>
          <a:xfrm>
            <a:off x="731520" y="1170432"/>
            <a:ext cx="10789920" cy="384048"/>
          </a:xfrm>
          <a:prstGeom prst="rect">
            <a:avLst/>
          </a:prstGeom>
          <a:noFill/>
        </p:spPr>
        <p:txBody>
          <a:bodyPr wrap="none" lIns="54864" tIns="54864" rIns="54864" bIns="54864" anchor="ctr">
            <a:spAutoFit/>
          </a:bodyPr>
          <a:lstStyle/>
          <a:p>
            <a:pPr>
              <a:spcAft>
                <a:spcPts val="400"/>
              </a:spcAft>
              <a:defRPr sz="1500" b="1">
                <a:solidFill>
                  <a:srgbClr val="5F6E80"/>
                </a:solidFill>
                <a:latin typeface="Aptos"/>
              </a:defRPr>
            </a:pPr>
            <a:r>
              <a:t>Cấu hình: i5-8250U • RAM 8 GB • Python 3.9 • VPython • Kociemba</a:t>
            </a:r>
          </a:p>
        </p:txBody>
      </p:sp>
      <p:graphicFrame>
        <p:nvGraphicFramePr>
          <p:cNvPr id="6" name="Table 5"/>
          <p:cNvGraphicFramePr>
            <a:graphicFrameLocks noGrp="1"/>
          </p:cNvGraphicFramePr>
          <p:nvPr/>
        </p:nvGraphicFramePr>
        <p:xfrm>
          <a:off x="731520" y="1828800"/>
          <a:ext cx="10698480" cy="23317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582930">
                <a:tc>
                  <a:txBody>
                    <a:bodyPr/>
                    <a:lstStyle/>
                    <a:p>
                      <a:pPr>
                        <a:defRPr sz="1500" b="1">
                          <a:solidFill>
                            <a:srgbClr val="FFFFFF"/>
                          </a:solidFill>
                          <a:latin typeface="Aptos"/>
                        </a:defRPr>
                      </a:pPr>
                      <a:r>
                        <a:t>Phương pháp</a:t>
                      </a:r>
                    </a:p>
                  </a:txBody>
                  <a:tcPr marL="109728" marR="73152">
                    <a:solidFill>
                      <a:srgbClr val="0F2341"/>
                    </a:solidFill>
                  </a:tcPr>
                </a:tc>
                <a:tc>
                  <a:txBody>
                    <a:bodyPr/>
                    <a:lstStyle/>
                    <a:p>
                      <a:pPr>
                        <a:defRPr sz="1500" b="1">
                          <a:solidFill>
                            <a:srgbClr val="FFFFFF"/>
                          </a:solidFill>
                          <a:latin typeface="Aptos"/>
                        </a:defRPr>
                      </a:pPr>
                      <a:r>
                        <a:t>Số bước</a:t>
                      </a:r>
                    </a:p>
                  </a:txBody>
                  <a:tcPr marL="109728" marR="73152">
                    <a:solidFill>
                      <a:srgbClr val="0F2341"/>
                    </a:solidFill>
                  </a:tcPr>
                </a:tc>
                <a:tc>
                  <a:txBody>
                    <a:bodyPr/>
                    <a:lstStyle/>
                    <a:p>
                      <a:pPr>
                        <a:defRPr sz="1500" b="1">
                          <a:solidFill>
                            <a:srgbClr val="FFFFFF"/>
                          </a:solidFill>
                          <a:latin typeface="Aptos"/>
                        </a:defRPr>
                      </a:pPr>
                      <a:r>
                        <a:t>Tính lời giải</a:t>
                      </a:r>
                    </a:p>
                  </a:txBody>
                  <a:tcPr marL="109728" marR="73152">
                    <a:solidFill>
                      <a:srgbClr val="0F2341"/>
                    </a:solidFill>
                  </a:tcPr>
                </a:tc>
                <a:tc>
                  <a:txBody>
                    <a:bodyPr/>
                    <a:lstStyle/>
                    <a:p>
                      <a:pPr>
                        <a:defRPr sz="1500" b="1">
                          <a:solidFill>
                            <a:srgbClr val="FFFFFF"/>
                          </a:solidFill>
                          <a:latin typeface="Aptos"/>
                        </a:defRPr>
                      </a:pPr>
                      <a:r>
                        <a:t>Hiển thị</a:t>
                      </a:r>
                    </a:p>
                  </a:txBody>
                  <a:tcPr marL="109728" marR="73152">
                    <a:solidFill>
                      <a:srgbClr val="0F2341"/>
                    </a:solidFill>
                  </a:tcPr>
                </a:tc>
                <a:extLst>
                  <a:ext uri="{0D108BD9-81ED-4DB2-BD59-A6C34878D82A}">
                    <a16:rowId xmlns:a16="http://schemas.microsoft.com/office/drawing/2014/main" val="10000"/>
                  </a:ext>
                </a:extLst>
              </a:tr>
              <a:tr h="582930">
                <a:tc>
                  <a:txBody>
                    <a:bodyPr/>
                    <a:lstStyle/>
                    <a:p>
                      <a:pPr>
                        <a:defRPr sz="1400" b="0">
                          <a:solidFill>
                            <a:srgbClr val="233041"/>
                          </a:solidFill>
                          <a:latin typeface="Aptos"/>
                        </a:defRPr>
                      </a:pPr>
                      <a:r>
                        <a:t>Kociemba (hệ thống)</a:t>
                      </a:r>
                    </a:p>
                  </a:txBody>
                  <a:tcPr marL="109728" marR="73152">
                    <a:solidFill>
                      <a:srgbClr val="FFFFFF"/>
                    </a:solidFill>
                  </a:tcPr>
                </a:tc>
                <a:tc>
                  <a:txBody>
                    <a:bodyPr/>
                    <a:lstStyle/>
                    <a:p>
                      <a:pPr>
                        <a:defRPr sz="1400" b="0">
                          <a:solidFill>
                            <a:srgbClr val="233041"/>
                          </a:solidFill>
                          <a:latin typeface="Aptos"/>
                        </a:defRPr>
                      </a:pPr>
                      <a:r>
                        <a:t>~21</a:t>
                      </a:r>
                    </a:p>
                  </a:txBody>
                  <a:tcPr marL="109728" marR="73152">
                    <a:solidFill>
                      <a:srgbClr val="FFFFFF"/>
                    </a:solidFill>
                  </a:tcPr>
                </a:tc>
                <a:tc>
                  <a:txBody>
                    <a:bodyPr/>
                    <a:lstStyle/>
                    <a:p>
                      <a:pPr>
                        <a:defRPr sz="1400" b="0">
                          <a:solidFill>
                            <a:srgbClr val="233041"/>
                          </a:solidFill>
                          <a:latin typeface="Aptos"/>
                        </a:defRPr>
                      </a:pPr>
                      <a:r>
                        <a:t>30–150 ms</a:t>
                      </a:r>
                    </a:p>
                  </a:txBody>
                  <a:tcPr marL="109728" marR="73152">
                    <a:solidFill>
                      <a:srgbClr val="FFFFFF"/>
                    </a:solidFill>
                  </a:tcPr>
                </a:tc>
                <a:tc>
                  <a:txBody>
                    <a:bodyPr/>
                    <a:lstStyle/>
                    <a:p>
                      <a:pPr>
                        <a:defRPr sz="1400" b="0">
                          <a:solidFill>
                            <a:srgbClr val="233041"/>
                          </a:solidFill>
                          <a:latin typeface="Aptos"/>
                        </a:defRPr>
                      </a:pPr>
                      <a:r>
                        <a:t>5–10 s</a:t>
                      </a:r>
                    </a:p>
                  </a:txBody>
                  <a:tcPr marL="109728" marR="73152">
                    <a:solidFill>
                      <a:srgbClr val="FFFFFF"/>
                    </a:solidFill>
                  </a:tcPr>
                </a:tc>
                <a:extLst>
                  <a:ext uri="{0D108BD9-81ED-4DB2-BD59-A6C34878D82A}">
                    <a16:rowId xmlns:a16="http://schemas.microsoft.com/office/drawing/2014/main" val="10001"/>
                  </a:ext>
                </a:extLst>
              </a:tr>
              <a:tr h="582930">
                <a:tc>
                  <a:txBody>
                    <a:bodyPr/>
                    <a:lstStyle/>
                    <a:p>
                      <a:pPr>
                        <a:defRPr sz="1400" b="0">
                          <a:solidFill>
                            <a:srgbClr val="233041"/>
                          </a:solidFill>
                          <a:latin typeface="Aptos"/>
                        </a:defRPr>
                      </a:pPr>
                      <a:r>
                        <a:t>Layer-by-Layer thủ công</a:t>
                      </a:r>
                    </a:p>
                  </a:txBody>
                  <a:tcPr marL="109728" marR="73152">
                    <a:solidFill>
                      <a:srgbClr val="EBF1F7"/>
                    </a:solidFill>
                  </a:tcPr>
                </a:tc>
                <a:tc>
                  <a:txBody>
                    <a:bodyPr/>
                    <a:lstStyle/>
                    <a:p>
                      <a:pPr>
                        <a:defRPr sz="1400" b="0">
                          <a:solidFill>
                            <a:srgbClr val="233041"/>
                          </a:solidFill>
                          <a:latin typeface="Aptos"/>
                        </a:defRPr>
                      </a:pPr>
                      <a:r>
                        <a:t>50–100</a:t>
                      </a:r>
                    </a:p>
                  </a:txBody>
                  <a:tcPr marL="109728" marR="73152">
                    <a:solidFill>
                      <a:srgbClr val="EBF1F7"/>
                    </a:solidFill>
                  </a:tcPr>
                </a:tc>
                <a:tc>
                  <a:txBody>
                    <a:bodyPr/>
                    <a:lstStyle/>
                    <a:p>
                      <a:pPr>
                        <a:defRPr sz="1400" b="0">
                          <a:solidFill>
                            <a:srgbClr val="233041"/>
                          </a:solidFill>
                          <a:latin typeface="Aptos"/>
                        </a:defRPr>
                      </a:pPr>
                      <a:r>
                        <a:t>Phụ thuộc người</a:t>
                      </a:r>
                    </a:p>
                  </a:txBody>
                  <a:tcPr marL="109728" marR="73152">
                    <a:solidFill>
                      <a:srgbClr val="EBF1F7"/>
                    </a:solidFill>
                  </a:tcPr>
                </a:tc>
                <a:tc>
                  <a:txBody>
                    <a:bodyPr/>
                    <a:lstStyle/>
                    <a:p>
                      <a:pPr>
                        <a:defRPr sz="1400" b="0">
                          <a:solidFill>
                            <a:srgbClr val="233041"/>
                          </a:solidFill>
                          <a:latin typeface="Aptos"/>
                        </a:defRPr>
                      </a:pPr>
                      <a:r>
                        <a:t>Phụ thuộc người</a:t>
                      </a:r>
                    </a:p>
                  </a:txBody>
                  <a:tcPr marL="109728" marR="73152">
                    <a:solidFill>
                      <a:srgbClr val="EBF1F7"/>
                    </a:solidFill>
                  </a:tcPr>
                </a:tc>
                <a:extLst>
                  <a:ext uri="{0D108BD9-81ED-4DB2-BD59-A6C34878D82A}">
                    <a16:rowId xmlns:a16="http://schemas.microsoft.com/office/drawing/2014/main" val="10002"/>
                  </a:ext>
                </a:extLst>
              </a:tr>
              <a:tr h="582930">
                <a:tc>
                  <a:txBody>
                    <a:bodyPr/>
                    <a:lstStyle/>
                    <a:p>
                      <a:pPr>
                        <a:defRPr sz="1400" b="0">
                          <a:solidFill>
                            <a:srgbClr val="233041"/>
                          </a:solidFill>
                          <a:latin typeface="Aptos"/>
                        </a:defRPr>
                      </a:pPr>
                      <a:r>
                        <a:t>Brute Force</a:t>
                      </a:r>
                    </a:p>
                  </a:txBody>
                  <a:tcPr marL="109728" marR="73152">
                    <a:solidFill>
                      <a:srgbClr val="FFFFFF"/>
                    </a:solidFill>
                  </a:tcPr>
                </a:tc>
                <a:tc>
                  <a:txBody>
                    <a:bodyPr/>
                    <a:lstStyle/>
                    <a:p>
                      <a:pPr>
                        <a:defRPr sz="1400" b="0">
                          <a:solidFill>
                            <a:srgbClr val="233041"/>
                          </a:solidFill>
                          <a:latin typeface="Aptos"/>
                        </a:defRPr>
                      </a:pPr>
                      <a:r>
                        <a:t>Không thực tế</a:t>
                      </a:r>
                    </a:p>
                  </a:txBody>
                  <a:tcPr marL="109728" marR="73152">
                    <a:solidFill>
                      <a:srgbClr val="FFFFFF"/>
                    </a:solidFill>
                  </a:tcPr>
                </a:tc>
                <a:tc>
                  <a:txBody>
                    <a:bodyPr/>
                    <a:lstStyle/>
                    <a:p>
                      <a:pPr>
                        <a:defRPr sz="1400" b="0">
                          <a:solidFill>
                            <a:srgbClr val="233041"/>
                          </a:solidFill>
                          <a:latin typeface="Aptos"/>
                        </a:defRPr>
                      </a:pPr>
                      <a:r>
                        <a:t>Bùng nổ tìm kiếm</a:t>
                      </a:r>
                    </a:p>
                  </a:txBody>
                  <a:tcPr marL="109728" marR="73152">
                    <a:solidFill>
                      <a:srgbClr val="FFFFFF"/>
                    </a:solidFill>
                  </a:tcPr>
                </a:tc>
                <a:tc>
                  <a:txBody>
                    <a:bodyPr/>
                    <a:lstStyle/>
                    <a:p>
                      <a:pPr>
                        <a:defRPr sz="1400" b="0">
                          <a:solidFill>
                            <a:srgbClr val="233041"/>
                          </a:solidFill>
                          <a:latin typeface="Aptos"/>
                        </a:defRPr>
                      </a:pPr>
                      <a:r>
                        <a:t>—</a:t>
                      </a:r>
                    </a:p>
                  </a:txBody>
                  <a:tcPr marL="109728" marR="73152">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822960" y="4526280"/>
            <a:ext cx="10424160" cy="685800"/>
          </a:xfrm>
          <a:prstGeom prst="rect">
            <a:avLst/>
          </a:prstGeom>
          <a:noFill/>
        </p:spPr>
        <p:txBody>
          <a:bodyPr wrap="none" lIns="54864" tIns="54864" rIns="54864" bIns="54864" anchor="ctr">
            <a:spAutoFit/>
          </a:bodyPr>
          <a:lstStyle/>
          <a:p>
            <a:pPr>
              <a:spcAft>
                <a:spcPts val="400"/>
              </a:spcAft>
              <a:defRPr sz="1400" b="0">
                <a:solidFill>
                  <a:srgbClr val="233041"/>
                </a:solidFill>
                <a:latin typeface="Aptos"/>
              </a:defRPr>
            </a:pPr>
            <a:r>
              <a:t>Dữ liệu: xáo trộn 25 bước và thao tác người dùng • Baseline: Brute Force, LBL, Kociemba</a:t>
            </a:r>
          </a:p>
        </p:txBody>
      </p:sp>
      <p:sp>
        <p:nvSpPr>
          <p:cNvPr id="8" name="TextBox 7"/>
          <p:cNvSpPr txBox="1"/>
          <p:nvPr/>
        </p:nvSpPr>
        <p:spPr>
          <a:xfrm>
            <a:off x="822960" y="5303520"/>
            <a:ext cx="10424160" cy="594360"/>
          </a:xfrm>
          <a:prstGeom prst="rect">
            <a:avLst/>
          </a:prstGeom>
          <a:noFill/>
        </p:spPr>
        <p:txBody>
          <a:bodyPr wrap="none" lIns="54864" tIns="54864" rIns="54864" bIns="54864" anchor="ctr">
            <a:spAutoFit/>
          </a:bodyPr>
          <a:lstStyle/>
          <a:p>
            <a:pPr>
              <a:spcAft>
                <a:spcPts val="400"/>
              </a:spcAft>
              <a:defRPr sz="1600" b="1">
                <a:solidFill>
                  <a:srgbClr val="F2802D"/>
                </a:solidFill>
                <a:latin typeface="Aptos"/>
              </a:defRPr>
            </a:pPr>
            <a:r>
              <a:t>Điểm nghẽn: animation; lỗi mapping màu 5–8% khi xoay thủ công liên tục.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Demo: từ trạng thái ban đầu đến lời giải</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14</a:t>
            </a:r>
          </a:p>
        </p:txBody>
      </p:sp>
      <p:sp>
        <p:nvSpPr>
          <p:cNvPr id="5" name="Rectangle 4"/>
          <p:cNvSpPr/>
          <p:nvPr/>
        </p:nvSpPr>
        <p:spPr>
          <a:xfrm>
            <a:off x="909645"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29980"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0315"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09645"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29980"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50315"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09645" y="156655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29980" y="156655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150315" y="156655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8975"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9310"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68975"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89310"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68975"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89310"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645"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29980"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50315"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9645"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029980"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150315"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09645"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29980"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150315"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270650"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390985"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511320"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270650"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390985"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511320"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270650"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390985"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511320"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631655"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751990"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872325"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631655"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751990"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872325"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631655" y="192755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751990" y="192755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872325" y="192755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09645"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029980"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150315"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09645"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1029980"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150315"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09645" y="228856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029980" y="228856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150315" y="228856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8640" y="2454615"/>
            <a:ext cx="1805025" cy="274320"/>
          </a:xfrm>
          <a:prstGeom prst="rect">
            <a:avLst/>
          </a:prstGeom>
          <a:noFill/>
        </p:spPr>
        <p:txBody>
          <a:bodyPr wrap="none" lIns="54864" tIns="54864" rIns="54864" bIns="54864" anchor="ctr">
            <a:spAutoFit/>
          </a:bodyPr>
          <a:lstStyle/>
          <a:p>
            <a:pPr algn="ctr">
              <a:spcAft>
                <a:spcPts val="400"/>
              </a:spcAft>
              <a:defRPr sz="400" b="1">
                <a:solidFill>
                  <a:srgbClr val="5F6E80"/>
                </a:solidFill>
                <a:latin typeface="Aptos"/>
              </a:defRPr>
            </a:pPr>
            <a:r>
              <a:t>TRẠNG THÁI BAN ĐẦU</a:t>
            </a:r>
          </a:p>
        </p:txBody>
      </p:sp>
      <p:sp>
        <p:nvSpPr>
          <p:cNvPr id="60" name="Chevron 59"/>
          <p:cNvSpPr/>
          <p:nvPr/>
        </p:nvSpPr>
        <p:spPr>
          <a:xfrm>
            <a:off x="2926080" y="2743200"/>
            <a:ext cx="228600" cy="347472"/>
          </a:xfrm>
          <a:prstGeom prst="chevron">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3817437"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3937772" y="132588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4058107"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3817437" y="144621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3937772"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4058107"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817437" y="156655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937772" y="156655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058107" y="156655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3456432"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3576767"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3697102"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3456432"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3576767"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3697102"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3456432"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3576767"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3697102"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3817437"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3937772"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4058107" y="168688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3817437"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3937772"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4058107"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3817437"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3937772"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4058107"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4178442"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4298777"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4419112"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4178442"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4298777"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419112"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4178442"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4298777"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4419112"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4539447"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4659782"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4780117"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4539447"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659782"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4780117"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4539447"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4659782"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4780117"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3817437"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3937772"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4058107" y="204789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3817437" y="216822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3937772"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4058107"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3817437" y="228856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3937772" y="228856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4058107" y="228856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3456432" y="2454615"/>
            <a:ext cx="1805025" cy="274320"/>
          </a:xfrm>
          <a:prstGeom prst="rect">
            <a:avLst/>
          </a:prstGeom>
          <a:noFill/>
        </p:spPr>
        <p:txBody>
          <a:bodyPr wrap="none" lIns="54864" tIns="54864" rIns="54864" bIns="54864" anchor="ctr">
            <a:spAutoFit/>
          </a:bodyPr>
          <a:lstStyle/>
          <a:p>
            <a:pPr algn="ctr">
              <a:spcAft>
                <a:spcPts val="400"/>
              </a:spcAft>
              <a:defRPr sz="400" b="1">
                <a:solidFill>
                  <a:srgbClr val="5F6E80"/>
                </a:solidFill>
                <a:latin typeface="Aptos"/>
              </a:defRPr>
            </a:pPr>
            <a:r>
              <a:t>SAU XÁO TRỘN</a:t>
            </a:r>
          </a:p>
        </p:txBody>
      </p:sp>
      <p:sp>
        <p:nvSpPr>
          <p:cNvPr id="116" name="Chevron 115"/>
          <p:cNvSpPr/>
          <p:nvPr/>
        </p:nvSpPr>
        <p:spPr>
          <a:xfrm>
            <a:off x="5833872" y="2743200"/>
            <a:ext cx="228600" cy="347472"/>
          </a:xfrm>
          <a:prstGeom prst="chevron">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6725229"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6845564"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6965899"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6725229"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6845564" y="144621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6965899"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6725229" y="156655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6845564" y="156655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6965899" y="156655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6364224"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6484559"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6604894"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p:cNvSpPr/>
          <p:nvPr/>
        </p:nvSpPr>
        <p:spPr>
          <a:xfrm>
            <a:off x="6364224"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6484559"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6604894"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6364224"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6484559"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6604894"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6725229"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6845564"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6965899"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6725229"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6845564"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6965899"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6725229"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6845564"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6965899"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7086234"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7206569"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7326904"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7086234"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7206569"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7326904"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7086234"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7206569"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7326904"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7447239"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7567574"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7687909"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7447239" y="180722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7567574"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7687909"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7447239"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7567574"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7687909" y="192755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6725229"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6845564" y="204789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6965899"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6725229"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ectangle 165"/>
          <p:cNvSpPr/>
          <p:nvPr/>
        </p:nvSpPr>
        <p:spPr>
          <a:xfrm>
            <a:off x="6845564" y="216822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6965899"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6725229" y="228856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ectangle 168"/>
          <p:cNvSpPr/>
          <p:nvPr/>
        </p:nvSpPr>
        <p:spPr>
          <a:xfrm>
            <a:off x="6845564" y="228856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ectangle 169"/>
          <p:cNvSpPr/>
          <p:nvPr/>
        </p:nvSpPr>
        <p:spPr>
          <a:xfrm>
            <a:off x="6965899" y="228856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p:cNvSpPr txBox="1"/>
          <p:nvPr/>
        </p:nvSpPr>
        <p:spPr>
          <a:xfrm>
            <a:off x="6364224" y="2454615"/>
            <a:ext cx="1805025" cy="274320"/>
          </a:xfrm>
          <a:prstGeom prst="rect">
            <a:avLst/>
          </a:prstGeom>
          <a:noFill/>
        </p:spPr>
        <p:txBody>
          <a:bodyPr wrap="none" lIns="54864" tIns="54864" rIns="54864" bIns="54864" anchor="ctr">
            <a:spAutoFit/>
          </a:bodyPr>
          <a:lstStyle/>
          <a:p>
            <a:pPr algn="ctr">
              <a:spcAft>
                <a:spcPts val="400"/>
              </a:spcAft>
              <a:defRPr sz="400" b="1">
                <a:solidFill>
                  <a:srgbClr val="5F6E80"/>
                </a:solidFill>
                <a:latin typeface="Aptos"/>
              </a:defRPr>
            </a:pPr>
            <a:r>
              <a:t>LỜI GIẢI ĐƯỢC ĐỀ XUẤT</a:t>
            </a:r>
          </a:p>
        </p:txBody>
      </p:sp>
      <p:sp>
        <p:nvSpPr>
          <p:cNvPr id="172" name="Chevron 171"/>
          <p:cNvSpPr/>
          <p:nvPr/>
        </p:nvSpPr>
        <p:spPr>
          <a:xfrm>
            <a:off x="8741664" y="2743200"/>
            <a:ext cx="228600" cy="347472"/>
          </a:xfrm>
          <a:prstGeom prst="chevron">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Rectangle 172"/>
          <p:cNvSpPr/>
          <p:nvPr/>
        </p:nvSpPr>
        <p:spPr>
          <a:xfrm>
            <a:off x="9633021"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Rectangle 173"/>
          <p:cNvSpPr/>
          <p:nvPr/>
        </p:nvSpPr>
        <p:spPr>
          <a:xfrm>
            <a:off x="9753356"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9873691" y="132588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ectangle 175"/>
          <p:cNvSpPr/>
          <p:nvPr/>
        </p:nvSpPr>
        <p:spPr>
          <a:xfrm>
            <a:off x="9633021"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9753356"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Rectangle 177"/>
          <p:cNvSpPr/>
          <p:nvPr/>
        </p:nvSpPr>
        <p:spPr>
          <a:xfrm>
            <a:off x="9873691" y="1446215"/>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Rectangle 178"/>
          <p:cNvSpPr/>
          <p:nvPr/>
        </p:nvSpPr>
        <p:spPr>
          <a:xfrm>
            <a:off x="9633021" y="156655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Rectangle 179"/>
          <p:cNvSpPr/>
          <p:nvPr/>
        </p:nvSpPr>
        <p:spPr>
          <a:xfrm>
            <a:off x="9753356" y="156655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9873691" y="1566550"/>
            <a:ext cx="97475" cy="97475"/>
          </a:xfrm>
          <a:prstGeom prst="rect">
            <a:avLst/>
          </a:prstGeom>
          <a:solidFill>
            <a:srgbClr val="F4C241"/>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9272016"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p:cNvSpPr/>
          <p:nvPr/>
        </p:nvSpPr>
        <p:spPr>
          <a:xfrm>
            <a:off x="9392351"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Rectangle 183"/>
          <p:cNvSpPr/>
          <p:nvPr/>
        </p:nvSpPr>
        <p:spPr>
          <a:xfrm>
            <a:off x="9512686" y="168688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9272016"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9392351"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Rectangle 186"/>
          <p:cNvSpPr/>
          <p:nvPr/>
        </p:nvSpPr>
        <p:spPr>
          <a:xfrm>
            <a:off x="9512686" y="1807220"/>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Rectangle 187"/>
          <p:cNvSpPr/>
          <p:nvPr/>
        </p:nvSpPr>
        <p:spPr>
          <a:xfrm>
            <a:off x="9272016"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9392351"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9512686" y="1927555"/>
            <a:ext cx="97475" cy="97475"/>
          </a:xfrm>
          <a:prstGeom prst="rect">
            <a:avLst/>
          </a:prstGeom>
          <a:solidFill>
            <a:srgbClr val="F2802D"/>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Rectangle 190"/>
          <p:cNvSpPr/>
          <p:nvPr/>
        </p:nvSpPr>
        <p:spPr>
          <a:xfrm>
            <a:off x="9633021"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Rectangle 191"/>
          <p:cNvSpPr/>
          <p:nvPr/>
        </p:nvSpPr>
        <p:spPr>
          <a:xfrm>
            <a:off x="9753356"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Rectangle 192"/>
          <p:cNvSpPr/>
          <p:nvPr/>
        </p:nvSpPr>
        <p:spPr>
          <a:xfrm>
            <a:off x="9873691" y="168688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Rectangle 193"/>
          <p:cNvSpPr/>
          <p:nvPr/>
        </p:nvSpPr>
        <p:spPr>
          <a:xfrm>
            <a:off x="9633021"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Rectangle 194"/>
          <p:cNvSpPr/>
          <p:nvPr/>
        </p:nvSpPr>
        <p:spPr>
          <a:xfrm>
            <a:off x="9753356"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ectangle 195"/>
          <p:cNvSpPr/>
          <p:nvPr/>
        </p:nvSpPr>
        <p:spPr>
          <a:xfrm>
            <a:off x="9873691" y="1807220"/>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Rectangle 196"/>
          <p:cNvSpPr/>
          <p:nvPr/>
        </p:nvSpPr>
        <p:spPr>
          <a:xfrm>
            <a:off x="9633021"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Rectangle 197"/>
          <p:cNvSpPr/>
          <p:nvPr/>
        </p:nvSpPr>
        <p:spPr>
          <a:xfrm>
            <a:off x="9753356"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Rectangle 198"/>
          <p:cNvSpPr/>
          <p:nvPr/>
        </p:nvSpPr>
        <p:spPr>
          <a:xfrm>
            <a:off x="9873691" y="1927555"/>
            <a:ext cx="97475" cy="97475"/>
          </a:xfrm>
          <a:prstGeom prst="rect">
            <a:avLst/>
          </a:prstGeom>
          <a:solidFill>
            <a:srgbClr val="419B64"/>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ectangle 199"/>
          <p:cNvSpPr/>
          <p:nvPr/>
        </p:nvSpPr>
        <p:spPr>
          <a:xfrm>
            <a:off x="9994026"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Rectangle 200"/>
          <p:cNvSpPr/>
          <p:nvPr/>
        </p:nvSpPr>
        <p:spPr>
          <a:xfrm>
            <a:off x="10114361"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Rectangle 201"/>
          <p:cNvSpPr/>
          <p:nvPr/>
        </p:nvSpPr>
        <p:spPr>
          <a:xfrm>
            <a:off x="10234696" y="168688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Rectangle 202"/>
          <p:cNvSpPr/>
          <p:nvPr/>
        </p:nvSpPr>
        <p:spPr>
          <a:xfrm>
            <a:off x="9994026"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Rectangle 203"/>
          <p:cNvSpPr/>
          <p:nvPr/>
        </p:nvSpPr>
        <p:spPr>
          <a:xfrm>
            <a:off x="10114361"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Rectangle 204"/>
          <p:cNvSpPr/>
          <p:nvPr/>
        </p:nvSpPr>
        <p:spPr>
          <a:xfrm>
            <a:off x="10234696" y="1807220"/>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Rectangle 205"/>
          <p:cNvSpPr/>
          <p:nvPr/>
        </p:nvSpPr>
        <p:spPr>
          <a:xfrm>
            <a:off x="9994026"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Rectangle 206"/>
          <p:cNvSpPr/>
          <p:nvPr/>
        </p:nvSpPr>
        <p:spPr>
          <a:xfrm>
            <a:off x="10114361"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Rectangle 207"/>
          <p:cNvSpPr/>
          <p:nvPr/>
        </p:nvSpPr>
        <p:spPr>
          <a:xfrm>
            <a:off x="10234696" y="1927555"/>
            <a:ext cx="97475" cy="97475"/>
          </a:xfrm>
          <a:prstGeom prst="rect">
            <a:avLst/>
          </a:prstGeom>
          <a:solidFill>
            <a:srgbClr val="DC4B46"/>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Rectangle 208"/>
          <p:cNvSpPr/>
          <p:nvPr/>
        </p:nvSpPr>
        <p:spPr>
          <a:xfrm>
            <a:off x="10355031"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Rectangle 209"/>
          <p:cNvSpPr/>
          <p:nvPr/>
        </p:nvSpPr>
        <p:spPr>
          <a:xfrm>
            <a:off x="10475366"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Rectangle 210"/>
          <p:cNvSpPr/>
          <p:nvPr/>
        </p:nvSpPr>
        <p:spPr>
          <a:xfrm>
            <a:off x="10595701" y="168688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Rectangle 211"/>
          <p:cNvSpPr/>
          <p:nvPr/>
        </p:nvSpPr>
        <p:spPr>
          <a:xfrm>
            <a:off x="10355031"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Rectangle 212"/>
          <p:cNvSpPr/>
          <p:nvPr/>
        </p:nvSpPr>
        <p:spPr>
          <a:xfrm>
            <a:off x="10475366"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Rectangle 213"/>
          <p:cNvSpPr/>
          <p:nvPr/>
        </p:nvSpPr>
        <p:spPr>
          <a:xfrm>
            <a:off x="10595701" y="1807220"/>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Rectangle 214"/>
          <p:cNvSpPr/>
          <p:nvPr/>
        </p:nvSpPr>
        <p:spPr>
          <a:xfrm>
            <a:off x="10355031" y="192755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Rectangle 215"/>
          <p:cNvSpPr/>
          <p:nvPr/>
        </p:nvSpPr>
        <p:spPr>
          <a:xfrm>
            <a:off x="10475366" y="192755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Rectangle 216"/>
          <p:cNvSpPr/>
          <p:nvPr/>
        </p:nvSpPr>
        <p:spPr>
          <a:xfrm>
            <a:off x="10595701" y="1927555"/>
            <a:ext cx="97475" cy="97475"/>
          </a:xfrm>
          <a:prstGeom prst="rect">
            <a:avLst/>
          </a:prstGeom>
          <a:solidFill>
            <a:srgbClr val="3773BE"/>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Rectangle 217"/>
          <p:cNvSpPr/>
          <p:nvPr/>
        </p:nvSpPr>
        <p:spPr>
          <a:xfrm>
            <a:off x="9633021"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Rectangle 218"/>
          <p:cNvSpPr/>
          <p:nvPr/>
        </p:nvSpPr>
        <p:spPr>
          <a:xfrm>
            <a:off x="9753356"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Rectangle 219"/>
          <p:cNvSpPr/>
          <p:nvPr/>
        </p:nvSpPr>
        <p:spPr>
          <a:xfrm>
            <a:off x="9873691" y="204789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Rectangle 220"/>
          <p:cNvSpPr/>
          <p:nvPr/>
        </p:nvSpPr>
        <p:spPr>
          <a:xfrm>
            <a:off x="9633021"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Rectangle 221"/>
          <p:cNvSpPr/>
          <p:nvPr/>
        </p:nvSpPr>
        <p:spPr>
          <a:xfrm>
            <a:off x="9753356"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Rectangle 222"/>
          <p:cNvSpPr/>
          <p:nvPr/>
        </p:nvSpPr>
        <p:spPr>
          <a:xfrm>
            <a:off x="9873691" y="2168225"/>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Rectangle 223"/>
          <p:cNvSpPr/>
          <p:nvPr/>
        </p:nvSpPr>
        <p:spPr>
          <a:xfrm>
            <a:off x="9633021" y="228856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Rectangle 224"/>
          <p:cNvSpPr/>
          <p:nvPr/>
        </p:nvSpPr>
        <p:spPr>
          <a:xfrm>
            <a:off x="9753356" y="228856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Rectangle 225"/>
          <p:cNvSpPr/>
          <p:nvPr/>
        </p:nvSpPr>
        <p:spPr>
          <a:xfrm>
            <a:off x="9873691" y="2288560"/>
            <a:ext cx="97475" cy="97475"/>
          </a:xfrm>
          <a:prstGeom prst="rect">
            <a:avLst/>
          </a:prstGeom>
          <a:solidFill>
            <a:srgbClr val="FFFFFF"/>
          </a:solidFill>
          <a:ln w="12700">
            <a:solidFill>
              <a:srgbClr val="1C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TextBox 226"/>
          <p:cNvSpPr txBox="1"/>
          <p:nvPr/>
        </p:nvSpPr>
        <p:spPr>
          <a:xfrm>
            <a:off x="9272016" y="2454615"/>
            <a:ext cx="1805025" cy="274320"/>
          </a:xfrm>
          <a:prstGeom prst="rect">
            <a:avLst/>
          </a:prstGeom>
          <a:noFill/>
        </p:spPr>
        <p:txBody>
          <a:bodyPr wrap="none" lIns="54864" tIns="54864" rIns="54864" bIns="54864" anchor="ctr">
            <a:spAutoFit/>
          </a:bodyPr>
          <a:lstStyle/>
          <a:p>
            <a:pPr algn="ctr">
              <a:spcAft>
                <a:spcPts val="400"/>
              </a:spcAft>
              <a:defRPr sz="400" b="1">
                <a:solidFill>
                  <a:srgbClr val="5F6E80"/>
                </a:solidFill>
                <a:latin typeface="Aptos"/>
              </a:defRPr>
            </a:pPr>
            <a:r>
              <a:t>TRẠNG THÁI ĐÃ GIẢI</a:t>
            </a:r>
          </a:p>
        </p:txBody>
      </p:sp>
      <p:sp>
        <p:nvSpPr>
          <p:cNvPr id="228" name="TextBox 227"/>
          <p:cNvSpPr txBox="1"/>
          <p:nvPr/>
        </p:nvSpPr>
        <p:spPr>
          <a:xfrm>
            <a:off x="685800" y="5394960"/>
            <a:ext cx="10881360" cy="621792"/>
          </a:xfrm>
          <a:prstGeom prst="rect">
            <a:avLst/>
          </a:prstGeom>
          <a:noFill/>
        </p:spPr>
        <p:txBody>
          <a:bodyPr wrap="none" lIns="54864" tIns="54864" rIns="54864" bIns="54864" anchor="ctr">
            <a:spAutoFit/>
          </a:bodyPr>
          <a:lstStyle/>
          <a:p>
            <a:pPr algn="ctr">
              <a:spcAft>
                <a:spcPts val="400"/>
              </a:spcAft>
              <a:defRPr sz="1400" b="1">
                <a:solidFill>
                  <a:srgbClr val="0F2341"/>
                </a:solidFill>
                <a:latin typeface="Aptos"/>
              </a:defRPr>
            </a:pPr>
            <a:r>
              <a:t>Lời giải: D R' B2 L' U D' B L2 U' B' L2 U' L2 B2 R2 B2 U2 R2 L2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2341"/>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881360" cy="530352"/>
          </a:xfrm>
          <a:prstGeom prst="rect">
            <a:avLst/>
          </a:prstGeom>
          <a:noFill/>
        </p:spPr>
        <p:txBody>
          <a:bodyPr wrap="none" lIns="54864" tIns="54864" rIns="54864" bIns="54864" anchor="ctr">
            <a:spAutoFit/>
          </a:bodyPr>
          <a:lstStyle/>
          <a:p>
            <a:pPr>
              <a:spcAft>
                <a:spcPts val="400"/>
              </a:spcAft>
              <a:defRPr sz="2700" b="1">
                <a:solidFill>
                  <a:srgbClr val="0F2341"/>
                </a:solidFill>
                <a:latin typeface="Aptos"/>
              </a:defRPr>
            </a:pPr>
            <a:r>
              <a:t>Kết luận, hạn chế và hướng phát triển</a:t>
            </a:r>
          </a:p>
        </p:txBody>
      </p:sp>
      <p:sp>
        <p:nvSpPr>
          <p:cNvPr id="3" name="Rectangle 2"/>
          <p:cNvSpPr/>
          <p:nvPr/>
        </p:nvSpPr>
        <p:spPr>
          <a:xfrm>
            <a:off x="612648" y="914400"/>
            <a:ext cx="777240" cy="54864"/>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73952"/>
            <a:ext cx="457200" cy="182880"/>
          </a:xfrm>
          <a:prstGeom prst="rect">
            <a:avLst/>
          </a:prstGeom>
          <a:noFill/>
        </p:spPr>
        <p:txBody>
          <a:bodyPr wrap="none" lIns="54864" tIns="54864" rIns="54864" bIns="54864" anchor="ctr">
            <a:spAutoFit/>
          </a:bodyPr>
          <a:lstStyle/>
          <a:p>
            <a:pPr algn="r">
              <a:spcAft>
                <a:spcPts val="400"/>
              </a:spcAft>
              <a:defRPr sz="1000" b="1">
                <a:solidFill>
                  <a:srgbClr val="5F6E80"/>
                </a:solidFill>
                <a:latin typeface="Aptos"/>
              </a:defRPr>
            </a:pPr>
            <a:r>
              <a:t>15</a:t>
            </a:r>
          </a:p>
        </p:txBody>
      </p:sp>
      <p:sp>
        <p:nvSpPr>
          <p:cNvPr id="5" name="Rounded Rectangle 4"/>
          <p:cNvSpPr/>
          <p:nvPr/>
        </p:nvSpPr>
        <p:spPr>
          <a:xfrm>
            <a:off x="640080" y="1234440"/>
            <a:ext cx="3474720" cy="1874519"/>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874519"/>
          </a:xfrm>
          <a:prstGeom prst="rect">
            <a:avLst/>
          </a:prstGeom>
          <a:solidFill>
            <a:srgbClr val="F280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353312"/>
            <a:ext cx="3154679"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Đóng góp</a:t>
            </a:r>
          </a:p>
        </p:txBody>
      </p:sp>
      <p:sp>
        <p:nvSpPr>
          <p:cNvPr id="8" name="TextBox 7"/>
          <p:cNvSpPr txBox="1"/>
          <p:nvPr/>
        </p:nvSpPr>
        <p:spPr>
          <a:xfrm>
            <a:off x="841247" y="1764792"/>
            <a:ext cx="3127248" cy="125272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Kỹ thuật: mô phỏng + Kociemba</a:t>
            </a:r>
          </a:p>
          <a:p>
            <a:pPr>
              <a:spcAft>
                <a:spcPts val="400"/>
              </a:spcAft>
              <a:defRPr sz="1400" b="0">
                <a:solidFill>
                  <a:srgbClr val="233041"/>
                </a:solidFill>
                <a:latin typeface="Aptos"/>
              </a:defRPr>
            </a:pPr>
            <a:r>
              <a:t>Ứng dụng: trực quan học thuật</a:t>
            </a:r>
          </a:p>
          <a:p>
            <a:pPr>
              <a:spcAft>
                <a:spcPts val="400"/>
              </a:spcAft>
              <a:defRPr sz="1400" b="0">
                <a:solidFill>
                  <a:srgbClr val="233041"/>
                </a:solidFill>
                <a:latin typeface="Aptos"/>
              </a:defRPr>
            </a:pPr>
            <a:r>
              <a:t>Thực nghiệm: đo thời gian</a:t>
            </a:r>
          </a:p>
        </p:txBody>
      </p:sp>
      <p:sp>
        <p:nvSpPr>
          <p:cNvPr id="9" name="Rounded Rectangle 8"/>
          <p:cNvSpPr/>
          <p:nvPr/>
        </p:nvSpPr>
        <p:spPr>
          <a:xfrm>
            <a:off x="4343400" y="1234440"/>
            <a:ext cx="3474720" cy="1874519"/>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234440"/>
            <a:ext cx="73152" cy="1874519"/>
          </a:xfrm>
          <a:prstGeom prst="rect">
            <a:avLst/>
          </a:prstGeom>
          <a:solidFill>
            <a:srgbClr val="36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44568" y="1353312"/>
            <a:ext cx="3154679"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Hạn chế</a:t>
            </a:r>
          </a:p>
        </p:txBody>
      </p:sp>
      <p:sp>
        <p:nvSpPr>
          <p:cNvPr id="12" name="TextBox 11"/>
          <p:cNvSpPr txBox="1"/>
          <p:nvPr/>
        </p:nvSpPr>
        <p:spPr>
          <a:xfrm>
            <a:off x="4544568" y="1764792"/>
            <a:ext cx="3127248" cy="125272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Mapping màu tĩnh</a:t>
            </a:r>
          </a:p>
          <a:p>
            <a:pPr>
              <a:spcAft>
                <a:spcPts val="400"/>
              </a:spcAft>
              <a:defRPr sz="1400" b="0">
                <a:solidFill>
                  <a:srgbClr val="233041"/>
                </a:solidFill>
                <a:latin typeface="Aptos"/>
              </a:defRPr>
            </a:pPr>
            <a:r>
              <a:t>Animation chưa tối ưu</a:t>
            </a:r>
          </a:p>
          <a:p>
            <a:pPr>
              <a:spcAft>
                <a:spcPts val="400"/>
              </a:spcAft>
              <a:defRPr sz="1400" b="0">
                <a:solidFill>
                  <a:srgbClr val="233041"/>
                </a:solidFill>
                <a:latin typeface="Aptos"/>
              </a:defRPr>
            </a:pPr>
            <a:r>
              <a:t>Chưa dùng camera; chỉ 3×3×3</a:t>
            </a:r>
          </a:p>
        </p:txBody>
      </p:sp>
      <p:sp>
        <p:nvSpPr>
          <p:cNvPr id="13" name="Rounded Rectangle 12"/>
          <p:cNvSpPr/>
          <p:nvPr/>
        </p:nvSpPr>
        <p:spPr>
          <a:xfrm>
            <a:off x="8046720" y="1234440"/>
            <a:ext cx="3474720" cy="1874519"/>
          </a:xfrm>
          <a:prstGeom prst="roundRect">
            <a:avLst/>
          </a:prstGeom>
          <a:solidFill>
            <a:srgbClr val="FFFFFF"/>
          </a:solidFill>
          <a:ln>
            <a:solidFill>
              <a:srgbClr val="DE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234440"/>
            <a:ext cx="73152" cy="1874519"/>
          </a:xfrm>
          <a:prstGeom prst="rect">
            <a:avLst/>
          </a:prstGeom>
          <a:solidFill>
            <a:srgbClr val="37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47888" y="1353312"/>
            <a:ext cx="3154679" cy="365760"/>
          </a:xfrm>
          <a:prstGeom prst="rect">
            <a:avLst/>
          </a:prstGeom>
          <a:noFill/>
        </p:spPr>
        <p:txBody>
          <a:bodyPr wrap="none" lIns="54864" tIns="54864" rIns="54864" bIns="54864" anchor="ctr">
            <a:spAutoFit/>
          </a:bodyPr>
          <a:lstStyle/>
          <a:p>
            <a:pPr>
              <a:spcAft>
                <a:spcPts val="400"/>
              </a:spcAft>
              <a:defRPr sz="1700" b="1">
                <a:solidFill>
                  <a:srgbClr val="0F2341"/>
                </a:solidFill>
                <a:latin typeface="Aptos"/>
              </a:defRPr>
            </a:pPr>
            <a:r>
              <a:t>Phát triển</a:t>
            </a:r>
          </a:p>
        </p:txBody>
      </p:sp>
      <p:sp>
        <p:nvSpPr>
          <p:cNvPr id="16" name="TextBox 15"/>
          <p:cNvSpPr txBox="1"/>
          <p:nvPr/>
        </p:nvSpPr>
        <p:spPr>
          <a:xfrm>
            <a:off x="8247888" y="1764792"/>
            <a:ext cx="3127248" cy="1252727"/>
          </a:xfrm>
          <a:prstGeom prst="rect">
            <a:avLst/>
          </a:prstGeom>
          <a:noFill/>
        </p:spPr>
        <p:txBody>
          <a:bodyPr wrap="none" lIns="54864" tIns="54864" rIns="54864" bIns="54864" anchor="t">
            <a:spAutoFit/>
          </a:bodyPr>
          <a:lstStyle/>
          <a:p>
            <a:pPr>
              <a:spcAft>
                <a:spcPts val="400"/>
              </a:spcAft>
              <a:defRPr sz="1400" b="0">
                <a:solidFill>
                  <a:srgbClr val="233041"/>
                </a:solidFill>
                <a:latin typeface="Aptos"/>
              </a:defRPr>
            </a:pPr>
            <a:r>
              <a:t>Hiệu chỉnh màu, step-by-step</a:t>
            </a:r>
          </a:p>
          <a:p>
            <a:pPr>
              <a:spcAft>
                <a:spcPts val="400"/>
              </a:spcAft>
              <a:defRPr sz="1400" b="0">
                <a:solidFill>
                  <a:srgbClr val="233041"/>
                </a:solidFill>
                <a:latin typeface="Aptos"/>
              </a:defRPr>
            </a:pPr>
            <a:r>
              <a:t>Thị giác máy tính, RL</a:t>
            </a:r>
          </a:p>
          <a:p>
            <a:pPr>
              <a:spcAft>
                <a:spcPts val="400"/>
              </a:spcAft>
              <a:defRPr sz="1400" b="0">
                <a:solidFill>
                  <a:srgbClr val="233041"/>
                </a:solidFill>
                <a:latin typeface="Aptos"/>
              </a:defRPr>
            </a:pPr>
            <a:r>
              <a:t>Mở rộng Rubik 4×4 / 5×5</a:t>
            </a:r>
          </a:p>
        </p:txBody>
      </p:sp>
      <p:sp>
        <p:nvSpPr>
          <p:cNvPr id="17" name="TextBox 16"/>
          <p:cNvSpPr txBox="1"/>
          <p:nvPr/>
        </p:nvSpPr>
        <p:spPr>
          <a:xfrm>
            <a:off x="914400" y="4114800"/>
            <a:ext cx="10241280" cy="731520"/>
          </a:xfrm>
          <a:prstGeom prst="rect">
            <a:avLst/>
          </a:prstGeom>
          <a:noFill/>
        </p:spPr>
        <p:txBody>
          <a:bodyPr wrap="none" lIns="54864" tIns="54864" rIns="54864" bIns="54864" anchor="ctr">
            <a:spAutoFit/>
          </a:bodyPr>
          <a:lstStyle/>
          <a:p>
            <a:pPr algn="ctr">
              <a:spcAft>
                <a:spcPts val="400"/>
              </a:spcAft>
              <a:defRPr sz="2400" b="1">
                <a:solidFill>
                  <a:srgbClr val="FFFFFF"/>
                </a:solidFill>
                <a:latin typeface="Aptos"/>
              </a:defRPr>
            </a:pPr>
            <a:r>
              <a:t>Cảm ơn thầy/cô và các bạn đã lắng nghe – Q&amp;A</a:t>
            </a:r>
          </a:p>
        </p:txBody>
      </p:sp>
      <p:sp>
        <p:nvSpPr>
          <p:cNvPr id="18" name="TextBox 17"/>
          <p:cNvSpPr txBox="1"/>
          <p:nvPr/>
        </p:nvSpPr>
        <p:spPr>
          <a:xfrm>
            <a:off x="914400" y="5029200"/>
            <a:ext cx="10241280" cy="411480"/>
          </a:xfrm>
          <a:prstGeom prst="rect">
            <a:avLst/>
          </a:prstGeom>
          <a:noFill/>
        </p:spPr>
        <p:txBody>
          <a:bodyPr wrap="none" lIns="54864" tIns="54864" rIns="54864" bIns="54864" anchor="ctr">
            <a:spAutoFit/>
          </a:bodyPr>
          <a:lstStyle/>
          <a:p>
            <a:pPr algn="ctr">
              <a:spcAft>
                <a:spcPts val="400"/>
              </a:spcAft>
              <a:defRPr sz="1600" b="1">
                <a:solidFill>
                  <a:srgbClr val="F2802D"/>
                </a:solidFill>
                <a:latin typeface="Aptos"/>
              </a:defRPr>
            </a:pPr>
            <a:r>
              <a:t>Trao đổi và 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1774</Words>
  <Application>Microsoft Office PowerPoint</Application>
  <PresentationFormat>Widescreen</PresentationFormat>
  <Paragraphs>201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Administrator</cp:lastModifiedBy>
  <cp:revision>3</cp:revision>
  <dcterms:created xsi:type="dcterms:W3CDTF">2013-01-27T09:14:16Z</dcterms:created>
  <dcterms:modified xsi:type="dcterms:W3CDTF">2026-10-23T19:12:44Z</dcterms:modified>
  <cp:category/>
</cp:coreProperties>
</file>